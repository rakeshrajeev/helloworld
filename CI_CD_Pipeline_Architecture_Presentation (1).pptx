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6" r:id="rId1"/>
  </p:sldMasterIdLst>
  <p:sldIdLst>
    <p:sldId id="256" r:id="rId2"/>
    <p:sldId id="257" r:id="rId3"/>
    <p:sldId id="267" r:id="rId4"/>
    <p:sldId id="258" r:id="rId5"/>
    <p:sldId id="259" r:id="rId6"/>
    <p:sldId id="261" r:id="rId7"/>
    <p:sldId id="260" r:id="rId8"/>
    <p:sldId id="262" r:id="rId9"/>
    <p:sldId id="264" r:id="rId10"/>
    <p:sldId id="265" r:id="rId11"/>
    <p:sldId id="266" r:id="rId12"/>
    <p:sldId id="263"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D344C9-1FEB-5622-74BE-7FF40AEFB5F9}" v="1163" dt="2025-08-12T06:50:46.277"/>
    <p1510:client id="{D94D49E9-20FC-3243-ED21-7D1E3D1328D0}" v="573" dt="2025-08-11T17:36:30.5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708" y="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9960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0153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6480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188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9817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394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5157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4428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8709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188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2413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496143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7124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9164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4406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0007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293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8/12/2025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30973175"/>
      </p:ext>
    </p:extLst>
  </p:cSld>
  <p:clrMap bg1="dk1" tx1="lt1" bg2="dk2" tx2="lt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latin typeface="Arial Rounded MT Bold" panose="020F0704030504030204" pitchFamily="34" charset="0"/>
              </a:rPr>
              <a:t>CI/CD Pipeline with Governance</a:t>
            </a:r>
          </a:p>
        </p:txBody>
      </p:sp>
      <p:sp>
        <p:nvSpPr>
          <p:cNvPr id="3" name="Subtitle 2"/>
          <p:cNvSpPr>
            <a:spLocks noGrp="1"/>
          </p:cNvSpPr>
          <p:nvPr>
            <p:ph type="subTitle" idx="1"/>
          </p:nvPr>
        </p:nvSpPr>
        <p:spPr/>
        <p:txBody>
          <a:bodyPr/>
          <a:lstStyle/>
          <a:p>
            <a:r>
              <a:rPr dirty="0"/>
              <a:t>Architecture, Flow, and Promotion Strategy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94325" y="7262126"/>
            <a:ext cx="8332839" cy="4525963"/>
          </a:xfrm>
        </p:spPr>
        <p:txBody>
          <a:bodyPr>
            <a:normAutofit/>
          </a:bodyPr>
          <a:lstStyle/>
          <a:p>
            <a:pPr marL="0" indent="0">
              <a:buNone/>
            </a:pPr>
            <a:r>
              <a:rPr sz="1800" dirty="0"/>
              <a:t>• </a:t>
            </a:r>
            <a:r>
              <a:rPr sz="1800" b="1" dirty="0"/>
              <a:t>release/dev</a:t>
            </a:r>
            <a:r>
              <a:rPr sz="1800" dirty="0"/>
              <a:t>: CI build, scan, push Docker image</a:t>
            </a:r>
          </a:p>
          <a:p>
            <a:pPr marL="0" indent="0">
              <a:buNone/>
            </a:pPr>
            <a:r>
              <a:rPr sz="1800" dirty="0"/>
              <a:t>• </a:t>
            </a:r>
            <a:r>
              <a:rPr sz="1800" b="1" dirty="0"/>
              <a:t>release/</a:t>
            </a:r>
            <a:r>
              <a:rPr sz="1800" b="1" dirty="0" err="1"/>
              <a:t>uat</a:t>
            </a:r>
            <a:r>
              <a:rPr sz="1800" dirty="0"/>
              <a:t>: Validate scan and deploy to UAT</a:t>
            </a:r>
          </a:p>
          <a:p>
            <a:pPr marL="0" indent="0">
              <a:buNone/>
            </a:pPr>
            <a:r>
              <a:rPr sz="1800" dirty="0"/>
              <a:t>• </a:t>
            </a:r>
            <a:r>
              <a:rPr sz="1800" b="1" dirty="0"/>
              <a:t>main</a:t>
            </a:r>
            <a:r>
              <a:rPr sz="1800" dirty="0"/>
              <a:t>: Production-ready branch</a:t>
            </a:r>
          </a:p>
          <a:p>
            <a:pPr marL="0" indent="0">
              <a:buNone/>
            </a:pPr>
            <a:r>
              <a:rPr sz="1800" dirty="0"/>
              <a:t>• </a:t>
            </a:r>
            <a:r>
              <a:rPr sz="1800" b="1" dirty="0"/>
              <a:t>ci-config</a:t>
            </a:r>
            <a:r>
              <a:rPr sz="1800" dirty="0"/>
              <a:t>: Shared governance logic and template</a:t>
            </a:r>
            <a:r>
              <a:rPr lang="en-IN" sz="1800" dirty="0"/>
              <a:t>s</a:t>
            </a:r>
            <a:endParaRPr sz="1800" dirty="0"/>
          </a:p>
        </p:txBody>
      </p:sp>
      <p:sp>
        <p:nvSpPr>
          <p:cNvPr id="4" name="TextBox 3">
            <a:extLst>
              <a:ext uri="{FF2B5EF4-FFF2-40B4-BE49-F238E27FC236}">
                <a16:creationId xmlns:a16="http://schemas.microsoft.com/office/drawing/2014/main" id="{EF2CC49B-0CF8-D76A-D009-BE85282409A8}"/>
              </a:ext>
            </a:extLst>
          </p:cNvPr>
          <p:cNvSpPr txBox="1"/>
          <p:nvPr/>
        </p:nvSpPr>
        <p:spPr>
          <a:xfrm>
            <a:off x="416730" y="360628"/>
            <a:ext cx="8313413" cy="6206827"/>
          </a:xfrm>
          <a:prstGeom prst="rect">
            <a:avLst/>
          </a:prstGeom>
          <a:noFill/>
        </p:spPr>
        <p:txBody>
          <a:bodyPr wrap="square" lIns="91440" tIns="45720" rIns="91440" bIns="45720" rtlCol="0" anchor="t">
            <a:spAutoFit/>
          </a:bodyPr>
          <a:lstStyle/>
          <a:p>
            <a:endParaRPr lang="en-US" dirty="0"/>
          </a:p>
          <a:p>
            <a:pPr algn="just"/>
            <a:r>
              <a:rPr lang="en-US" dirty="0"/>
              <a:t>This Architecture demonstrates a secure and governed CI/CD setup for a containerized application (</a:t>
            </a:r>
            <a:r>
              <a:rPr lang="en-US" err="1"/>
              <a:t>helloworld</a:t>
            </a:r>
            <a:r>
              <a:rPr lang="en-US" dirty="0"/>
              <a:t>) using GitHub Actions, Docker, and Helm. It integrates image scanning, promotion workflows, and policy-driven deployment decisions across different branches.</a:t>
            </a:r>
            <a:endParaRPr lang="en-US"/>
          </a:p>
          <a:p>
            <a:endParaRPr lang="en-US" sz="2000" dirty="0"/>
          </a:p>
          <a:p>
            <a:r>
              <a:rPr lang="en-US" sz="2400" b="1" dirty="0"/>
              <a:t>Goals</a:t>
            </a:r>
          </a:p>
          <a:p>
            <a:endParaRPr lang="en-US" sz="2400" b="1" dirty="0"/>
          </a:p>
          <a:p>
            <a:pPr marL="342900" indent="-342900">
              <a:buFont typeface="Arial" panose="020B0604020202020204" pitchFamily="34" charset="0"/>
              <a:buChar char="•"/>
            </a:pPr>
            <a:r>
              <a:rPr lang="en-US" dirty="0"/>
              <a:t>Build -&gt; Scan -&gt;Validate -&gt; Deploy securely</a:t>
            </a:r>
          </a:p>
          <a:p>
            <a:pPr marL="342900" indent="-342900">
              <a:buFont typeface="Arial" panose="020B0604020202020204" pitchFamily="34" charset="0"/>
              <a:buChar char="•"/>
            </a:pPr>
            <a:r>
              <a:rPr lang="en-US" dirty="0"/>
              <a:t>Enforce promotion from lower to higher environment</a:t>
            </a:r>
          </a:p>
          <a:p>
            <a:pPr marL="342900" indent="-342900">
              <a:buFont typeface="Arial" panose="020B0604020202020204" pitchFamily="34" charset="0"/>
              <a:buChar char="•"/>
            </a:pPr>
            <a:r>
              <a:rPr lang="en-US" dirty="0"/>
              <a:t>Auto block on critical CVEs.</a:t>
            </a:r>
          </a:p>
          <a:p>
            <a:pPr marL="342900" indent="-342900">
              <a:buFont typeface="Arial" panose="020B0604020202020204" pitchFamily="34" charset="0"/>
              <a:buChar char="•"/>
            </a:pPr>
            <a:r>
              <a:rPr lang="en-US" dirty="0"/>
              <a:t>Track scan results and governance.</a:t>
            </a:r>
          </a:p>
          <a:p>
            <a:pPr marL="342900" indent="-342900">
              <a:buFont typeface="Arial" panose="020B0604020202020204" pitchFamily="34" charset="0"/>
              <a:buChar char="•"/>
            </a:pPr>
            <a:r>
              <a:rPr lang="en-US" dirty="0"/>
              <a:t>Ready for </a:t>
            </a:r>
            <a:r>
              <a:rPr lang="en-US" err="1"/>
              <a:t>GitOps</a:t>
            </a:r>
            <a:r>
              <a:rPr lang="en-US" dirty="0"/>
              <a:t> Integration.</a:t>
            </a:r>
            <a:endParaRPr lang="en-IN"/>
          </a:p>
          <a:p>
            <a:endParaRPr lang="en-US" sz="2000" i="1" dirty="0"/>
          </a:p>
          <a:p>
            <a:r>
              <a:rPr lang="en-US" sz="2400" b="1" dirty="0"/>
              <a:t>Repository Structure</a:t>
            </a:r>
          </a:p>
          <a:p>
            <a:pPr>
              <a:spcBef>
                <a:spcPts val="1000"/>
              </a:spcBef>
            </a:pPr>
            <a:r>
              <a:rPr lang="en-US" dirty="0"/>
              <a:t>• </a:t>
            </a:r>
            <a:r>
              <a:rPr lang="en-US" b="1" dirty="0"/>
              <a:t>release/dev</a:t>
            </a:r>
            <a:r>
              <a:rPr lang="en-US" dirty="0"/>
              <a:t>: CI build, scan, push Docker image</a:t>
            </a:r>
          </a:p>
          <a:p>
            <a:pPr>
              <a:spcBef>
                <a:spcPts val="1000"/>
              </a:spcBef>
            </a:pPr>
            <a:r>
              <a:rPr lang="en-US" dirty="0"/>
              <a:t>• </a:t>
            </a:r>
            <a:r>
              <a:rPr lang="en-US" b="1" dirty="0"/>
              <a:t>release/</a:t>
            </a:r>
            <a:r>
              <a:rPr lang="en-US" b="1" dirty="0" err="1"/>
              <a:t>uat</a:t>
            </a:r>
            <a:r>
              <a:rPr lang="en-US" dirty="0"/>
              <a:t>: Validate scan and deploy to UAT</a:t>
            </a:r>
          </a:p>
          <a:p>
            <a:pPr>
              <a:spcBef>
                <a:spcPts val="1000"/>
              </a:spcBef>
            </a:pPr>
            <a:r>
              <a:rPr lang="en-US" dirty="0"/>
              <a:t>• </a:t>
            </a:r>
            <a:r>
              <a:rPr lang="en-US" b="1" dirty="0"/>
              <a:t>main</a:t>
            </a:r>
            <a:r>
              <a:rPr lang="en-US" dirty="0"/>
              <a:t>: Production-ready branch</a:t>
            </a:r>
          </a:p>
          <a:p>
            <a:pPr>
              <a:spcBef>
                <a:spcPts val="1000"/>
              </a:spcBef>
            </a:pPr>
            <a:r>
              <a:rPr lang="en-US" dirty="0"/>
              <a:t>• </a:t>
            </a:r>
            <a:r>
              <a:rPr lang="en-US" b="1" dirty="0"/>
              <a:t>ci-config</a:t>
            </a:r>
            <a:r>
              <a:rPr lang="en-US" dirty="0"/>
              <a:t>: Shared governance logic and template</a:t>
            </a:r>
            <a:r>
              <a:rPr lang="en-IN" dirty="0"/>
              <a:t>s</a:t>
            </a:r>
            <a:endParaRPr lang="en-US" dirty="0"/>
          </a:p>
        </p:txBody>
      </p:sp>
      <p:sp>
        <p:nvSpPr>
          <p:cNvPr id="6" name="TextBox 5">
            <a:extLst>
              <a:ext uri="{FF2B5EF4-FFF2-40B4-BE49-F238E27FC236}">
                <a16:creationId xmlns:a16="http://schemas.microsoft.com/office/drawing/2014/main" id="{6F8B9B4F-B88C-9BAA-B4A5-4966B4E675E9}"/>
              </a:ext>
            </a:extLst>
          </p:cNvPr>
          <p:cNvSpPr txBox="1"/>
          <p:nvPr/>
        </p:nvSpPr>
        <p:spPr>
          <a:xfrm>
            <a:off x="807564" y="127340"/>
            <a:ext cx="7521677" cy="461665"/>
          </a:xfrm>
          <a:prstGeom prst="rect">
            <a:avLst/>
          </a:prstGeom>
          <a:noFill/>
        </p:spPr>
        <p:txBody>
          <a:bodyPr wrap="square" rtlCol="0">
            <a:spAutoFit/>
          </a:bodyPr>
          <a:lstStyle/>
          <a:p>
            <a:pPr algn="ctr"/>
            <a:r>
              <a:rPr lang="en-US" sz="2400" b="1" dirty="0"/>
              <a:t>Overview</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1C690-9C4A-3B35-6484-712A46B99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8F0136-295C-7DC9-59FD-EEED748717D1}"/>
              </a:ext>
            </a:extLst>
          </p:cNvPr>
          <p:cNvSpPr>
            <a:spLocks noGrp="1"/>
          </p:cNvSpPr>
          <p:nvPr>
            <p:ph type="title"/>
          </p:nvPr>
        </p:nvSpPr>
        <p:spPr>
          <a:xfrm>
            <a:off x="345463" y="257999"/>
            <a:ext cx="8449281" cy="7537988"/>
          </a:xfrm>
        </p:spPr>
        <p:txBody>
          <a:bodyPr/>
          <a:lstStyle/>
          <a:p>
            <a:r>
              <a:rPr lang="en-US" sz="2400" b="1" dirty="0">
                <a:ea typeface="+mj-lt"/>
                <a:cs typeface="+mj-lt"/>
              </a:rPr>
              <a:t>Tool Selection Justification</a:t>
            </a:r>
            <a:br>
              <a:rPr lang="en-US" sz="2400" b="1" dirty="0">
                <a:solidFill>
                  <a:srgbClr val="EBEBEB"/>
                </a:solidFill>
                <a:ea typeface="+mj-lt"/>
                <a:cs typeface="+mj-lt"/>
              </a:rPr>
            </a:br>
            <a:endParaRPr lang="en-US" sz="1600" b="1">
              <a:ea typeface="+mj-lt"/>
              <a:cs typeface="+mj-lt"/>
            </a:endParaRPr>
          </a:p>
          <a:p>
            <a:pPr marL="285750" indent="-285750">
              <a:buFont typeface="Arial"/>
              <a:buChar char="•"/>
            </a:pPr>
            <a:r>
              <a:rPr lang="en-US" sz="1600" b="1" dirty="0">
                <a:ea typeface="+mj-lt"/>
                <a:cs typeface="+mj-lt"/>
              </a:rPr>
              <a:t>GitHub (Repo, Actions, Branching Strategy) : </a:t>
            </a:r>
            <a:r>
              <a:rPr lang="en-US" sz="1600" dirty="0">
                <a:ea typeface="+mj-lt"/>
                <a:cs typeface="+mj-lt"/>
              </a:rPr>
              <a:t>Centralized source control and automation in one platform, no need to maintain a separate CI/CD tool. Allowed me to implement both CI and CD pipelines with governance using only repo-based workflows</a:t>
            </a:r>
            <a:br>
              <a:rPr lang="en-US" sz="1600" dirty="0">
                <a:ea typeface="+mj-lt"/>
                <a:cs typeface="+mj-lt"/>
              </a:rPr>
            </a:br>
            <a:endParaRPr lang="en-US" sz="1600" dirty="0">
              <a:ea typeface="+mj-lt"/>
              <a:cs typeface="+mj-lt"/>
            </a:endParaRPr>
          </a:p>
          <a:p>
            <a:pPr marL="285750" indent="-285750">
              <a:buFont typeface="Arial"/>
              <a:buChar char="•"/>
            </a:pPr>
            <a:r>
              <a:rPr lang="en-US" sz="1600" b="1" dirty="0" err="1">
                <a:ea typeface="+mj-lt"/>
                <a:cs typeface="+mj-lt"/>
              </a:rPr>
              <a:t>Trivy</a:t>
            </a:r>
            <a:r>
              <a:rPr lang="en-US" sz="1600" b="1" dirty="0">
                <a:ea typeface="+mj-lt"/>
                <a:cs typeface="+mj-lt"/>
              </a:rPr>
              <a:t> (Image Scanning): </a:t>
            </a:r>
            <a:r>
              <a:rPr lang="en-US" sz="1600" dirty="0">
                <a:ea typeface="+mj-lt"/>
                <a:cs typeface="+mj-lt"/>
              </a:rPr>
              <a:t>Open-source, quick to integrate, covers OS packages and application dependencies for CVEs. Aligned with governance requirement — block promotion if CVEs found above a threshold</a:t>
            </a:r>
            <a:br>
              <a:rPr lang="en-US" sz="1600" dirty="0">
                <a:ea typeface="+mj-lt"/>
                <a:cs typeface="+mj-lt"/>
              </a:rPr>
            </a:br>
            <a:endParaRPr lang="en-US" sz="1600" dirty="0">
              <a:ea typeface="+mj-lt"/>
              <a:cs typeface="+mj-lt"/>
            </a:endParaRPr>
          </a:p>
          <a:p>
            <a:pPr>
              <a:buFont typeface="Arial"/>
              <a:buChar char="•"/>
            </a:pPr>
            <a:r>
              <a:rPr lang="en-US" sz="1600" b="1" dirty="0">
                <a:ea typeface="+mj-lt"/>
                <a:cs typeface="+mj-lt"/>
              </a:rPr>
              <a:t>    Helm</a:t>
            </a:r>
            <a:r>
              <a:rPr lang="en-US" sz="1600" dirty="0">
                <a:ea typeface="+mj-lt"/>
                <a:cs typeface="+mj-lt"/>
              </a:rPr>
              <a:t>: Standard Kubernetes package manager, lets us templatize     deployments. Even without GKE/EKS, Helm allows a deployment structure that is cloud/K8s-ready.</a:t>
            </a:r>
            <a:br>
              <a:rPr lang="en-US" sz="1600" dirty="0">
                <a:ea typeface="+mj-lt"/>
                <a:cs typeface="+mj-lt"/>
              </a:rPr>
            </a:br>
            <a:endParaRPr lang="en-US" sz="1600"/>
          </a:p>
          <a:p>
            <a:pPr marL="285750" indent="-285750">
              <a:buFont typeface="Arial"/>
              <a:buChar char="•"/>
            </a:pPr>
            <a:r>
              <a:rPr lang="en-US" sz="1600" b="1" dirty="0">
                <a:ea typeface="+mj-lt"/>
                <a:cs typeface="+mj-lt"/>
              </a:rPr>
              <a:t>Governance via Repo (Policies &amp; Dispensation Files):</a:t>
            </a:r>
            <a:r>
              <a:rPr lang="en-US" sz="1600" dirty="0">
                <a:ea typeface="+mj-lt"/>
                <a:cs typeface="+mj-lt"/>
              </a:rPr>
              <a:t> Instead of a heavy policy engine, used GitHub repo itself for governance rules. Simple to audit, versioned, and enforced via pipelines.</a:t>
            </a:r>
            <a:br>
              <a:rPr lang="en-US" sz="1600" dirty="0">
                <a:ea typeface="+mj-lt"/>
                <a:cs typeface="+mj-lt"/>
              </a:rPr>
            </a:br>
            <a:endParaRPr lang="en-US" sz="1600" dirty="0">
              <a:ea typeface="+mj-lt"/>
              <a:cs typeface="+mj-lt"/>
            </a:endParaRPr>
          </a:p>
          <a:p>
            <a:pPr>
              <a:buFont typeface="Arial"/>
              <a:buChar char="•"/>
            </a:pPr>
            <a:r>
              <a:rPr lang="en-US" sz="1600" b="1" dirty="0">
                <a:ea typeface="+mj-lt"/>
                <a:cs typeface="+mj-lt"/>
              </a:rPr>
              <a:t>   Docker Desktop: </a:t>
            </a:r>
            <a:r>
              <a:rPr lang="en-US" sz="1600" dirty="0">
                <a:ea typeface="+mj-lt"/>
                <a:cs typeface="+mj-lt"/>
              </a:rPr>
              <a:t>Lightweight, local container runtime to simulate Kubernetes or production environments without cloud dependencies.</a:t>
            </a:r>
            <a:br>
              <a:rPr lang="en-US" sz="1600" dirty="0">
                <a:ea typeface="+mj-lt"/>
                <a:cs typeface="+mj-lt"/>
              </a:rPr>
            </a:br>
            <a:br>
              <a:rPr lang="en-US" sz="1600" dirty="0">
                <a:solidFill>
                  <a:srgbClr val="EBEBEB"/>
                </a:solidFill>
                <a:ea typeface="+mj-lt"/>
                <a:cs typeface="+mj-lt"/>
              </a:rPr>
            </a:br>
            <a:r>
              <a:rPr lang="en-US" sz="1600" b="1" dirty="0">
                <a:ea typeface="+mj-lt"/>
                <a:cs typeface="+mj-lt"/>
              </a:rPr>
              <a:t>.    Immutable &amp; Traceable: </a:t>
            </a:r>
            <a:r>
              <a:rPr lang="en-US" sz="1600" dirty="0">
                <a:ea typeface="+mj-lt"/>
                <a:cs typeface="+mj-lt"/>
              </a:rPr>
              <a:t>SHA256 digest is </a:t>
            </a:r>
            <a:r>
              <a:rPr lang="en-US" sz="1600" b="1" dirty="0">
                <a:ea typeface="+mj-lt"/>
                <a:cs typeface="+mj-lt"/>
              </a:rPr>
              <a:t>unique per image build</a:t>
            </a:r>
            <a:r>
              <a:rPr lang="en-US" sz="1600" dirty="0">
                <a:ea typeface="+mj-lt"/>
                <a:cs typeface="+mj-lt"/>
              </a:rPr>
              <a:t> — no accidental re-tagging (unlike </a:t>
            </a:r>
            <a:r>
              <a:rPr lang="en-US" sz="1600" dirty="0">
                <a:latin typeface="Consolas"/>
                <a:ea typeface="+mj-lt"/>
                <a:cs typeface="+mj-lt"/>
              </a:rPr>
              <a:t>latest</a:t>
            </a:r>
            <a:r>
              <a:rPr lang="en-US" sz="1600" dirty="0">
                <a:ea typeface="+mj-lt"/>
                <a:cs typeface="+mj-lt"/>
              </a:rPr>
              <a:t>).Prevents ambiguity; we always know exactly which image is deployed.</a:t>
            </a:r>
            <a:br>
              <a:rPr lang="en-US" sz="1600" dirty="0">
                <a:ea typeface="+mj-lt"/>
                <a:cs typeface="+mj-lt"/>
              </a:rPr>
            </a:br>
            <a:br>
              <a:rPr lang="en-US" sz="1600" dirty="0">
                <a:ea typeface="+mj-lt"/>
                <a:cs typeface="+mj-lt"/>
              </a:rPr>
            </a:br>
            <a:br>
              <a:rPr lang="en-US" sz="1800" dirty="0">
                <a:ea typeface="+mj-lt"/>
                <a:cs typeface="+mj-lt"/>
              </a:rPr>
            </a:br>
            <a:br>
              <a:rPr lang="en-US" sz="1800" dirty="0">
                <a:ea typeface="+mj-lt"/>
                <a:cs typeface="+mj-lt"/>
              </a:rPr>
            </a:br>
            <a:br>
              <a:rPr lang="en-US" sz="1800" b="1" dirty="0">
                <a:ea typeface="+mj-lt"/>
                <a:cs typeface="+mj-lt"/>
              </a:rPr>
            </a:br>
            <a:br>
              <a:rPr lang="en-US" sz="1800" b="1" dirty="0">
                <a:ea typeface="+mj-lt"/>
                <a:cs typeface="+mj-lt"/>
              </a:rPr>
            </a:br>
            <a:r>
              <a:rPr lang="en-US" sz="1800" b="1" dirty="0">
                <a:solidFill>
                  <a:schemeClr val="tx1"/>
                </a:solidFill>
                <a:ea typeface="+mj-lt"/>
                <a:cs typeface="+mj-lt"/>
              </a:rPr>
              <a:t>               </a:t>
            </a:r>
            <a:endParaRPr lang="en-US" sz="1800">
              <a:solidFill>
                <a:schemeClr val="tx1"/>
              </a:solidFill>
              <a:ea typeface="+mn-ea"/>
              <a:cs typeface="+mn-cs"/>
            </a:endParaRPr>
          </a:p>
          <a:p>
            <a:endParaRPr lang="en-US" sz="1800" b="1" dirty="0">
              <a:ea typeface="+mj-lt"/>
              <a:cs typeface="+mj-lt"/>
            </a:endParaRPr>
          </a:p>
          <a:p>
            <a:pPr marL="342900" indent="-342900">
              <a:spcBef>
                <a:spcPts val="1000"/>
              </a:spcBef>
              <a:buFont typeface="Arial"/>
              <a:buChar char="•"/>
            </a:pPr>
            <a:endParaRPr lang="en-US" sz="1800" dirty="0">
              <a:solidFill>
                <a:schemeClr val="tx1"/>
              </a:solidFill>
              <a:latin typeface="+mn-lt"/>
              <a:ea typeface="+mn-ea"/>
              <a:cs typeface="+mn-cs"/>
            </a:endParaRPr>
          </a:p>
        </p:txBody>
      </p:sp>
    </p:spTree>
    <p:extLst>
      <p:ext uri="{BB962C8B-B14F-4D97-AF65-F5344CB8AC3E}">
        <p14:creationId xmlns:p14="http://schemas.microsoft.com/office/powerpoint/2010/main" val="75839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008374" cy="324465"/>
          </a:xfrm>
        </p:spPr>
        <p:txBody>
          <a:bodyPr>
            <a:noAutofit/>
          </a:bodyPr>
          <a:lstStyle/>
          <a:p>
            <a:pPr algn="ctr"/>
            <a:r>
              <a:rPr sz="2400" b="1" dirty="0">
                <a:solidFill>
                  <a:schemeClr val="tx1"/>
                </a:solidFill>
                <a:latin typeface="+mn-lt"/>
                <a:ea typeface="+mn-ea"/>
                <a:cs typeface="+mn-cs"/>
              </a:rPr>
              <a:t>CI Pipeline - release/dev</a:t>
            </a:r>
            <a:endParaRPr lang="en-US">
              <a:ea typeface="+mn-ea"/>
              <a:cs typeface="+mn-cs"/>
            </a:endParaRPr>
          </a:p>
        </p:txBody>
      </p:sp>
      <p:sp>
        <p:nvSpPr>
          <p:cNvPr id="3" name="Content Placeholder 2"/>
          <p:cNvSpPr>
            <a:spLocks noGrp="1"/>
          </p:cNvSpPr>
          <p:nvPr>
            <p:ph idx="1"/>
          </p:nvPr>
        </p:nvSpPr>
        <p:spPr>
          <a:xfrm>
            <a:off x="211154" y="4715525"/>
            <a:ext cx="4377393" cy="2125211"/>
          </a:xfrm>
          <a:prstGeom prst="round1Rect">
            <a:avLst/>
          </a:prstGeom>
          <a:ln/>
        </p:spPr>
        <p:style>
          <a:lnRef idx="0">
            <a:schemeClr val="accent5"/>
          </a:lnRef>
          <a:fillRef idx="3">
            <a:schemeClr val="accent5"/>
          </a:fillRef>
          <a:effectRef idx="3">
            <a:schemeClr val="accent5"/>
          </a:effectRef>
          <a:fontRef idx="minor">
            <a:schemeClr val="lt1"/>
          </a:fontRef>
        </p:style>
        <p:txBody>
          <a:bodyPr vert="horz" lIns="91440" tIns="45720" rIns="91440" bIns="45720" rtlCol="0" anchor="t">
            <a:noAutofit/>
          </a:bodyPr>
          <a:lstStyle/>
          <a:p>
            <a:pPr marL="0" indent="0" defTabSz="457200">
              <a:buNone/>
            </a:pPr>
            <a:r>
              <a:rPr lang="en-US" sz="1800" b="1" u="sng" dirty="0">
                <a:solidFill>
                  <a:schemeClr val="tx1"/>
                </a:solidFill>
                <a:latin typeface="+mn-lt"/>
                <a:ea typeface="+mn-ea"/>
                <a:cs typeface="+mn-cs"/>
              </a:rPr>
              <a:t>CI FLOW</a:t>
            </a:r>
            <a:endParaRPr lang="en-US" u="sng">
              <a:solidFill>
                <a:schemeClr val="tx1"/>
              </a:solidFill>
            </a:endParaRPr>
          </a:p>
          <a:p>
            <a:pPr marL="342900" indent="-342900" defTabSz="457200">
              <a:buClr>
                <a:srgbClr val="8AD0D6"/>
              </a:buClr>
              <a:buFont typeface="Wingdings"/>
              <a:buChar char="q"/>
            </a:pPr>
            <a:r>
              <a:rPr sz="1200" dirty="0">
                <a:solidFill>
                  <a:schemeClr val="tx1"/>
                </a:solidFill>
              </a:rPr>
              <a:t>Triggered on push to release/dev</a:t>
            </a:r>
            <a:endParaRPr lang="en-US" sz="1200">
              <a:solidFill>
                <a:schemeClr val="tx1"/>
              </a:solidFill>
            </a:endParaRPr>
          </a:p>
          <a:p>
            <a:pPr marL="342900" indent="-342900" defTabSz="457200">
              <a:buClr>
                <a:srgbClr val="8AD0D6"/>
              </a:buClr>
              <a:buFont typeface="Wingdings"/>
              <a:buChar char="q"/>
            </a:pPr>
            <a:r>
              <a:rPr lang="en-IN" sz="1200" dirty="0">
                <a:solidFill>
                  <a:schemeClr val="tx1"/>
                </a:solidFill>
              </a:rPr>
              <a:t>Builds Docker images from app/</a:t>
            </a:r>
          </a:p>
          <a:p>
            <a:pPr marL="342900" indent="-342900" defTabSz="457200">
              <a:buClr>
                <a:srgbClr val="8AD0D6"/>
              </a:buClr>
              <a:buFont typeface="Wingdings"/>
              <a:buChar char="q"/>
            </a:pPr>
            <a:r>
              <a:rPr lang="en-IN" sz="1200" dirty="0">
                <a:solidFill>
                  <a:schemeClr val="tx1"/>
                </a:solidFill>
              </a:rPr>
              <a:t>Performs vulnerability scanning using </a:t>
            </a:r>
            <a:r>
              <a:rPr lang="en-IN" sz="1200" err="1">
                <a:solidFill>
                  <a:schemeClr val="tx1"/>
                </a:solidFill>
              </a:rPr>
              <a:t>Trivy</a:t>
            </a:r>
            <a:endParaRPr lang="en-IN" sz="1200">
              <a:solidFill>
                <a:schemeClr val="tx1"/>
              </a:solidFill>
            </a:endParaRPr>
          </a:p>
          <a:p>
            <a:pPr marL="342900" indent="-342900" defTabSz="457200">
              <a:buClr>
                <a:srgbClr val="8AD0D6"/>
              </a:buClr>
              <a:buFont typeface="Wingdings"/>
              <a:buChar char="q"/>
            </a:pPr>
            <a:r>
              <a:rPr lang="en-IN" sz="1200" dirty="0">
                <a:solidFill>
                  <a:schemeClr val="tx1"/>
                </a:solidFill>
              </a:rPr>
              <a:t>Stores scan results in </a:t>
            </a:r>
            <a:r>
              <a:rPr lang="en-IN" sz="1200" err="1">
                <a:solidFill>
                  <a:schemeClr val="tx1"/>
                </a:solidFill>
              </a:rPr>
              <a:t>Github</a:t>
            </a:r>
            <a:r>
              <a:rPr lang="en-IN" sz="1200" dirty="0">
                <a:solidFill>
                  <a:schemeClr val="tx1"/>
                </a:solidFill>
              </a:rPr>
              <a:t> Artifact with Json format with name scan-results-</a:t>
            </a:r>
            <a:r>
              <a:rPr lang="en-IN" sz="1200" err="1">
                <a:solidFill>
                  <a:schemeClr val="tx1"/>
                </a:solidFill>
              </a:rPr>
              <a:t>git.sha</a:t>
            </a:r>
            <a:endParaRPr lang="en-IN" sz="1200">
              <a:solidFill>
                <a:schemeClr val="tx1"/>
              </a:solidFill>
            </a:endParaRPr>
          </a:p>
          <a:p>
            <a:pPr marL="342900" indent="-342900" defTabSz="457200">
              <a:buClr>
                <a:srgbClr val="8AD0D6"/>
              </a:buClr>
              <a:buFont typeface="Wingdings"/>
              <a:buChar char="q"/>
            </a:pPr>
            <a:r>
              <a:rPr lang="en-IN" sz="1200" dirty="0">
                <a:solidFill>
                  <a:schemeClr val="tx1"/>
                </a:solidFill>
              </a:rPr>
              <a:t>Pushes validated images to Docker Hub</a:t>
            </a:r>
          </a:p>
          <a:p>
            <a:pPr marL="342900" indent="-342900" defTabSz="457200">
              <a:buClr>
                <a:srgbClr val="8AD0D6"/>
              </a:buClr>
              <a:buFont typeface="Wingdings" charset="2"/>
              <a:buChar char="q"/>
            </a:pPr>
            <a:endParaRPr lang="en-IN" sz="1400" dirty="0">
              <a:solidFill>
                <a:schemeClr val="bg1"/>
              </a:solidFill>
            </a:endParaRPr>
          </a:p>
        </p:txBody>
      </p:sp>
      <p:pic>
        <p:nvPicPr>
          <p:cNvPr id="5" name="Picture 4" descr="A diagram of a company&#10;&#10;AI-generated content may be incorrect.">
            <a:extLst>
              <a:ext uri="{FF2B5EF4-FFF2-40B4-BE49-F238E27FC236}">
                <a16:creationId xmlns:a16="http://schemas.microsoft.com/office/drawing/2014/main" id="{DBD25C0F-F044-7E84-11EB-E5AEB48F2FBC}"/>
              </a:ext>
            </a:extLst>
          </p:cNvPr>
          <p:cNvPicPr>
            <a:picLocks noChangeAspect="1"/>
          </p:cNvPicPr>
          <p:nvPr/>
        </p:nvPicPr>
        <p:blipFill>
          <a:blip r:embed="rId2"/>
          <a:srcRect l="-190" t="10853" b="1809"/>
          <a:stretch>
            <a:fillRect/>
          </a:stretch>
        </p:blipFill>
        <p:spPr>
          <a:xfrm>
            <a:off x="219427" y="616194"/>
            <a:ext cx="8747598" cy="37740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850B2D5B-AE90-5B23-A91B-A929F20A4440}"/>
              </a:ext>
            </a:extLst>
          </p:cNvPr>
          <p:cNvSpPr txBox="1"/>
          <p:nvPr/>
        </p:nvSpPr>
        <p:spPr>
          <a:xfrm>
            <a:off x="4597181" y="4656895"/>
            <a:ext cx="4352211" cy="2210862"/>
          </a:xfrm>
          <a:prstGeom prst="round1Rect">
            <a:avLst/>
          </a:prstGeom>
        </p:spPr>
        <p:style>
          <a:lnRef idx="1">
            <a:schemeClr val="accent5"/>
          </a:lnRef>
          <a:fillRef idx="2">
            <a:schemeClr val="accent5"/>
          </a:fillRef>
          <a:effectRef idx="1">
            <a:schemeClr val="accent5"/>
          </a:effectRef>
          <a:fontRef idx="minor">
            <a:schemeClr val="dk1"/>
          </a:fontRef>
        </p:style>
        <p:txBody>
          <a:bodyPr wrap="square" lIns="91440" tIns="45720" rIns="91440" bIns="45720" rtlCol="0" anchor="t">
            <a:spAutoFit/>
          </a:bodyPr>
          <a:lstStyle/>
          <a:p>
            <a:r>
              <a:rPr lang="en-IN" b="1" u="sng" dirty="0">
                <a:solidFill>
                  <a:schemeClr val="tx1"/>
                </a:solidFill>
              </a:rPr>
              <a:t>Folder Structure</a:t>
            </a:r>
          </a:p>
          <a:p>
            <a:endParaRPr lang="en-IN" b="1" u="sng" dirty="0">
              <a:solidFill>
                <a:schemeClr val="tx1"/>
              </a:solidFill>
            </a:endParaRPr>
          </a:p>
          <a:p>
            <a:pPr marL="342900" indent="-342900">
              <a:spcBef>
                <a:spcPts val="1000"/>
              </a:spcBef>
              <a:buClr>
                <a:srgbClr val="8AD0D6"/>
              </a:buClr>
              <a:buSzPct val="80000"/>
              <a:buFont typeface="Wingdings"/>
              <a:buChar char="q"/>
            </a:pPr>
            <a:r>
              <a:rPr lang="en-IN" sz="1200" dirty="0">
                <a:solidFill>
                  <a:schemeClr val="tx1"/>
                </a:solidFill>
              </a:rPr>
              <a:t>.</a:t>
            </a:r>
            <a:r>
              <a:rPr lang="en-IN" sz="1200" err="1">
                <a:solidFill>
                  <a:schemeClr val="tx1"/>
                </a:solidFill>
              </a:rPr>
              <a:t>github</a:t>
            </a:r>
            <a:r>
              <a:rPr lang="en-IN" sz="1200" dirty="0">
                <a:solidFill>
                  <a:schemeClr val="tx1"/>
                </a:solidFill>
              </a:rPr>
              <a:t>/workflows/</a:t>
            </a:r>
            <a:r>
              <a:rPr lang="en-IN" sz="1200" err="1">
                <a:solidFill>
                  <a:schemeClr val="tx1"/>
                </a:solidFill>
              </a:rPr>
              <a:t>ci.yaml</a:t>
            </a:r>
            <a:r>
              <a:rPr lang="en-IN" sz="1200" dirty="0">
                <a:solidFill>
                  <a:schemeClr val="tx1"/>
                </a:solidFill>
              </a:rPr>
              <a:t>: CI pipeline logic</a:t>
            </a:r>
          </a:p>
          <a:p>
            <a:pPr marL="342900" indent="-342900">
              <a:spcBef>
                <a:spcPts val="1000"/>
              </a:spcBef>
              <a:buClr>
                <a:srgbClr val="8AD0D6"/>
              </a:buClr>
              <a:buSzPct val="80000"/>
              <a:buFont typeface="Wingdings"/>
              <a:buChar char="q"/>
            </a:pPr>
            <a:r>
              <a:rPr lang="en-IN" sz="1200" dirty="0">
                <a:solidFill>
                  <a:schemeClr val="tx1"/>
                </a:solidFill>
              </a:rPr>
              <a:t>app/: Source code and </a:t>
            </a:r>
            <a:r>
              <a:rPr lang="en-IN" sz="1200" err="1">
                <a:solidFill>
                  <a:schemeClr val="tx1"/>
                </a:solidFill>
              </a:rPr>
              <a:t>Dockerfile</a:t>
            </a:r>
            <a:endParaRPr lang="en-IN" sz="1200">
              <a:solidFill>
                <a:schemeClr val="tx1"/>
              </a:solidFill>
            </a:endParaRPr>
          </a:p>
          <a:p>
            <a:pPr marL="342900" indent="-342900">
              <a:spcBef>
                <a:spcPts val="1000"/>
              </a:spcBef>
              <a:buClr>
                <a:srgbClr val="8AD0D6"/>
              </a:buClr>
              <a:buSzPct val="80000"/>
              <a:buFont typeface="Wingdings"/>
              <a:buChar char="q"/>
            </a:pPr>
            <a:r>
              <a:rPr lang="en-IN" sz="1200" dirty="0">
                <a:solidFill>
                  <a:schemeClr val="tx1"/>
                </a:solidFill>
              </a:rPr>
              <a:t>scan-results/: JSON reports of image scans</a:t>
            </a:r>
          </a:p>
          <a:p>
            <a:pPr marL="342900" indent="-342900">
              <a:spcBef>
                <a:spcPts val="1000"/>
              </a:spcBef>
              <a:buClr>
                <a:srgbClr val="8AD0D6"/>
              </a:buClr>
              <a:buSzPct val="80000"/>
              <a:buFont typeface="Wingdings"/>
              <a:buChar char="q"/>
            </a:pPr>
            <a:r>
              <a:rPr lang="en-IN" sz="1200" dirty="0">
                <a:solidFill>
                  <a:schemeClr val="tx1"/>
                </a:solidFill>
              </a:rPr>
              <a:t>scripts/validate-scan.py: Used later in CD pipeline</a:t>
            </a:r>
          </a:p>
          <a:p>
            <a:pPr marL="342900" indent="-342900">
              <a:spcBef>
                <a:spcPts val="1000"/>
              </a:spcBef>
              <a:buClr>
                <a:srgbClr val="8AD0D6"/>
              </a:buClr>
              <a:buSzPct val="80000"/>
              <a:buFont typeface="Wingdings"/>
              <a:buChar char="q"/>
            </a:pPr>
            <a:endParaRPr lang="en-IN"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2"/>
            <a:ext cx="8229600" cy="408735"/>
          </a:xfrm>
        </p:spPr>
        <p:txBody>
          <a:bodyPr>
            <a:noAutofit/>
          </a:bodyPr>
          <a:lstStyle/>
          <a:p>
            <a:pPr algn="ctr"/>
            <a:r>
              <a:rPr sz="2400" b="1" dirty="0">
                <a:solidFill>
                  <a:schemeClr val="tx1"/>
                </a:solidFill>
                <a:latin typeface="+mn-lt"/>
                <a:ea typeface="+mn-ea"/>
                <a:cs typeface="+mn-cs"/>
              </a:rPr>
              <a:t>CD Pipeline - release/</a:t>
            </a:r>
            <a:r>
              <a:rPr sz="2400" b="1" err="1">
                <a:solidFill>
                  <a:schemeClr val="tx1"/>
                </a:solidFill>
                <a:latin typeface="+mn-lt"/>
                <a:ea typeface="+mn-ea"/>
                <a:cs typeface="+mn-cs"/>
              </a:rPr>
              <a:t>uat</a:t>
            </a:r>
            <a:r>
              <a:rPr sz="2400" b="1" dirty="0">
                <a:solidFill>
                  <a:schemeClr val="tx1"/>
                </a:solidFill>
                <a:latin typeface="+mn-lt"/>
                <a:ea typeface="+mn-ea"/>
                <a:cs typeface="+mn-cs"/>
              </a:rPr>
              <a:t> &amp; main</a:t>
            </a:r>
            <a:endParaRPr lang="en-US">
              <a:solidFill>
                <a:schemeClr val="tx1"/>
              </a:solidFill>
              <a:ea typeface="+mn-ea"/>
              <a:cs typeface="+mn-cs"/>
            </a:endParaRPr>
          </a:p>
        </p:txBody>
      </p:sp>
      <p:sp>
        <p:nvSpPr>
          <p:cNvPr id="3" name="Content Placeholder 2"/>
          <p:cNvSpPr>
            <a:spLocks noGrp="1"/>
          </p:cNvSpPr>
          <p:nvPr>
            <p:ph idx="1"/>
          </p:nvPr>
        </p:nvSpPr>
        <p:spPr>
          <a:xfrm>
            <a:off x="233097" y="4653965"/>
            <a:ext cx="4681353" cy="2163386"/>
          </a:xfrm>
          <a:prstGeom prst="round1Rect">
            <a:avLst/>
          </a:prstGeom>
        </p:spPr>
        <p:style>
          <a:lnRef idx="1">
            <a:schemeClr val="accent5"/>
          </a:lnRef>
          <a:fillRef idx="3">
            <a:schemeClr val="accent5"/>
          </a:fillRef>
          <a:effectRef idx="2">
            <a:schemeClr val="accent5"/>
          </a:effectRef>
          <a:fontRef idx="minor">
            <a:schemeClr val="lt1"/>
          </a:fontRef>
        </p:style>
        <p:txBody>
          <a:bodyPr vert="horz" lIns="91440" tIns="45720" rIns="91440" bIns="45720" rtlCol="0" anchor="t">
            <a:noAutofit/>
          </a:bodyPr>
          <a:lstStyle/>
          <a:p>
            <a:pPr marL="0" indent="0" defTabSz="457200">
              <a:buClr>
                <a:srgbClr val="8AD0D6"/>
              </a:buClr>
              <a:buNone/>
            </a:pPr>
            <a:r>
              <a:rPr lang="en-US" sz="1800" b="1" u="sng" dirty="0">
                <a:solidFill>
                  <a:schemeClr val="tx1"/>
                </a:solidFill>
                <a:latin typeface="+mn-lt"/>
                <a:ea typeface="+mn-ea"/>
                <a:cs typeface="+mn-cs"/>
              </a:rPr>
              <a:t>CI Flow</a:t>
            </a:r>
            <a:endParaRPr lang="en-US" sz="1800" b="1" u="sng" dirty="0">
              <a:solidFill>
                <a:schemeClr val="tx1"/>
              </a:solidFill>
              <a:latin typeface="+mn-lt"/>
            </a:endParaRPr>
          </a:p>
          <a:p>
            <a:pPr marL="342900" indent="-342900" defTabSz="457200">
              <a:buClr>
                <a:srgbClr val="8AD0D6"/>
              </a:buClr>
              <a:buFont typeface="Wingdings"/>
              <a:buChar char="q"/>
            </a:pPr>
            <a:r>
              <a:rPr sz="1200" dirty="0">
                <a:solidFill>
                  <a:schemeClr val="tx1"/>
                </a:solidFill>
              </a:rPr>
              <a:t>Triggered on push to release/</a:t>
            </a:r>
            <a:r>
              <a:rPr sz="1200" err="1">
                <a:solidFill>
                  <a:schemeClr val="tx1"/>
                </a:solidFill>
              </a:rPr>
              <a:t>uat</a:t>
            </a:r>
            <a:r>
              <a:rPr sz="1200" dirty="0">
                <a:solidFill>
                  <a:schemeClr val="tx1"/>
                </a:solidFill>
              </a:rPr>
              <a:t> or main</a:t>
            </a:r>
            <a:endParaRPr lang="en-US" sz="1200" dirty="0">
              <a:solidFill>
                <a:schemeClr val="tx1"/>
              </a:solidFill>
            </a:endParaRPr>
          </a:p>
          <a:p>
            <a:pPr marL="342900" indent="-342900" defTabSz="457200">
              <a:buClr>
                <a:srgbClr val="8AD0D6"/>
              </a:buClr>
              <a:buFont typeface="Wingdings"/>
              <a:buChar char="q"/>
            </a:pPr>
            <a:r>
              <a:rPr sz="1200" dirty="0">
                <a:solidFill>
                  <a:schemeClr val="tx1"/>
                </a:solidFill>
              </a:rPr>
              <a:t>Fetches scan result from </a:t>
            </a:r>
            <a:r>
              <a:rPr lang="en-US" sz="1200" err="1">
                <a:solidFill>
                  <a:schemeClr val="tx1"/>
                </a:solidFill>
              </a:rPr>
              <a:t>github</a:t>
            </a:r>
            <a:r>
              <a:rPr lang="en-US" sz="1200" dirty="0">
                <a:solidFill>
                  <a:schemeClr val="tx1"/>
                </a:solidFill>
              </a:rPr>
              <a:t> </a:t>
            </a:r>
            <a:r>
              <a:rPr lang="en-US" sz="1200" err="1">
                <a:solidFill>
                  <a:schemeClr val="tx1"/>
                </a:solidFill>
              </a:rPr>
              <a:t>artifactory</a:t>
            </a:r>
            <a:r>
              <a:rPr lang="en-US" sz="1200" dirty="0">
                <a:solidFill>
                  <a:schemeClr val="tx1"/>
                </a:solidFill>
              </a:rPr>
              <a:t> </a:t>
            </a:r>
            <a:endParaRPr sz="1200" dirty="0">
              <a:solidFill>
                <a:schemeClr val="tx1"/>
              </a:solidFill>
            </a:endParaRPr>
          </a:p>
          <a:p>
            <a:pPr marL="342900" indent="-342900" defTabSz="457200">
              <a:buClr>
                <a:srgbClr val="8AD0D6"/>
              </a:buClr>
              <a:buFont typeface="Wingdings"/>
              <a:buChar char="q"/>
            </a:pPr>
            <a:r>
              <a:rPr sz="1200" dirty="0">
                <a:solidFill>
                  <a:schemeClr val="tx1"/>
                </a:solidFill>
              </a:rPr>
              <a:t>Validates scan using validate-scan.py</a:t>
            </a:r>
            <a:r>
              <a:rPr lang="en-US" sz="1200" dirty="0">
                <a:solidFill>
                  <a:schemeClr val="tx1"/>
                </a:solidFill>
              </a:rPr>
              <a:t>  for security gating</a:t>
            </a:r>
          </a:p>
          <a:p>
            <a:pPr marL="342900" indent="-342900" defTabSz="457200">
              <a:buClr>
                <a:srgbClr val="8AD0D6"/>
              </a:buClr>
              <a:buFont typeface="Wingdings"/>
              <a:buChar char="q"/>
            </a:pPr>
            <a:r>
              <a:rPr lang="en-IN" sz="1200" dirty="0">
                <a:solidFill>
                  <a:schemeClr val="tx1"/>
                </a:solidFill>
              </a:rPr>
              <a:t>Pulls approved Docker images from docker hub</a:t>
            </a:r>
            <a:endParaRPr sz="1200" dirty="0">
              <a:solidFill>
                <a:schemeClr val="tx1"/>
              </a:solidFill>
            </a:endParaRPr>
          </a:p>
          <a:p>
            <a:pPr marL="342900" indent="-342900" defTabSz="457200">
              <a:buClr>
                <a:srgbClr val="8AD0D6"/>
              </a:buClr>
              <a:buFont typeface="Wingdings"/>
              <a:buChar char="q"/>
            </a:pPr>
            <a:r>
              <a:rPr sz="1200" dirty="0">
                <a:solidFill>
                  <a:schemeClr val="tx1"/>
                </a:solidFill>
              </a:rPr>
              <a:t>Deploys using Helm or Docker</a:t>
            </a:r>
          </a:p>
        </p:txBody>
      </p:sp>
      <p:pic>
        <p:nvPicPr>
          <p:cNvPr id="5" name="Picture 4" descr="A diagram of a diagram&#10;&#10;AI-generated content may be incorrect.">
            <a:extLst>
              <a:ext uri="{FF2B5EF4-FFF2-40B4-BE49-F238E27FC236}">
                <a16:creationId xmlns:a16="http://schemas.microsoft.com/office/drawing/2014/main" id="{09877D59-D59E-774C-FB85-AF0A050515CC}"/>
              </a:ext>
            </a:extLst>
          </p:cNvPr>
          <p:cNvPicPr>
            <a:picLocks noChangeAspect="1"/>
          </p:cNvPicPr>
          <p:nvPr/>
        </p:nvPicPr>
        <p:blipFill>
          <a:blip r:embed="rId2"/>
          <a:srcRect t="2445" r="1274" b="5623"/>
          <a:stretch>
            <a:fillRect/>
          </a:stretch>
        </p:blipFill>
        <p:spPr>
          <a:xfrm>
            <a:off x="234176" y="570511"/>
            <a:ext cx="8680017" cy="39099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05E0B54E-DA2D-37E1-D23A-56D53691B865}"/>
              </a:ext>
            </a:extLst>
          </p:cNvPr>
          <p:cNvSpPr txBox="1"/>
          <p:nvPr/>
        </p:nvSpPr>
        <p:spPr>
          <a:xfrm>
            <a:off x="4922365" y="4604014"/>
            <a:ext cx="3987461" cy="2267287"/>
          </a:xfrm>
          <a:prstGeom prst="round1Rect">
            <a:avLst/>
          </a:prstGeom>
        </p:spPr>
        <p:style>
          <a:lnRef idx="1">
            <a:schemeClr val="accent5"/>
          </a:lnRef>
          <a:fillRef idx="2">
            <a:schemeClr val="accent5"/>
          </a:fillRef>
          <a:effectRef idx="1">
            <a:schemeClr val="accent5"/>
          </a:effectRef>
          <a:fontRef idx="minor">
            <a:schemeClr val="dk1"/>
          </a:fontRef>
        </p:style>
        <p:txBody>
          <a:bodyPr wrap="square" lIns="91440" tIns="45720" rIns="91440" bIns="45720" rtlCol="0" anchor="t">
            <a:spAutoFit/>
          </a:bodyPr>
          <a:lstStyle/>
          <a:p>
            <a:r>
              <a:rPr lang="en-IN" b="1" u="sng" dirty="0">
                <a:solidFill>
                  <a:schemeClr val="tx1"/>
                </a:solidFill>
              </a:rPr>
              <a:t>Folder Structure</a:t>
            </a:r>
          </a:p>
          <a:p>
            <a:endParaRPr lang="en-IN" b="1" u="sng" dirty="0">
              <a:solidFill>
                <a:schemeClr val="tx1"/>
              </a:solidFill>
            </a:endParaRPr>
          </a:p>
          <a:p>
            <a:pPr marL="342900" indent="-342900">
              <a:spcBef>
                <a:spcPts val="1000"/>
              </a:spcBef>
              <a:buClr>
                <a:srgbClr val="8AD0D6"/>
              </a:buClr>
              <a:buSzPct val="80000"/>
              <a:buFont typeface="Wingdings"/>
              <a:buChar char="q"/>
            </a:pPr>
            <a:r>
              <a:rPr lang="en-IN" sz="1200" dirty="0">
                <a:solidFill>
                  <a:schemeClr val="tx1"/>
                </a:solidFill>
              </a:rPr>
              <a:t>.</a:t>
            </a:r>
            <a:r>
              <a:rPr lang="en-IN" sz="1200" dirty="0" err="1">
                <a:solidFill>
                  <a:schemeClr val="tx1"/>
                </a:solidFill>
              </a:rPr>
              <a:t>github</a:t>
            </a:r>
            <a:r>
              <a:rPr lang="en-IN" sz="1200" dirty="0">
                <a:solidFill>
                  <a:schemeClr val="tx1"/>
                </a:solidFill>
              </a:rPr>
              <a:t>/workflows/</a:t>
            </a:r>
            <a:r>
              <a:rPr lang="en-IN" sz="1200" dirty="0" err="1">
                <a:solidFill>
                  <a:schemeClr val="tx1"/>
                </a:solidFill>
              </a:rPr>
              <a:t>cd.yaml</a:t>
            </a:r>
            <a:r>
              <a:rPr lang="en-IN" sz="1200" dirty="0">
                <a:solidFill>
                  <a:schemeClr val="tx1"/>
                </a:solidFill>
              </a:rPr>
              <a:t>: CD pipeline logic</a:t>
            </a:r>
          </a:p>
          <a:p>
            <a:pPr marL="342900" indent="-342900">
              <a:spcBef>
                <a:spcPts val="1000"/>
              </a:spcBef>
              <a:buClr>
                <a:srgbClr val="8AD0D6"/>
              </a:buClr>
              <a:buSzPct val="80000"/>
              <a:buFont typeface="Wingdings"/>
              <a:buChar char="q"/>
            </a:pPr>
            <a:r>
              <a:rPr lang="en-IN" sz="1200" dirty="0">
                <a:solidFill>
                  <a:schemeClr val="tx1"/>
                </a:solidFill>
              </a:rPr>
              <a:t>charts/: Helm chart for deployment</a:t>
            </a:r>
          </a:p>
          <a:p>
            <a:pPr marL="342900" indent="-342900">
              <a:spcBef>
                <a:spcPts val="1000"/>
              </a:spcBef>
              <a:buClr>
                <a:srgbClr val="8AD0D6"/>
              </a:buClr>
              <a:buSzPct val="80000"/>
              <a:buFont typeface="Wingdings"/>
              <a:buChar char="q"/>
            </a:pPr>
            <a:r>
              <a:rPr lang="en-IN" sz="1200" dirty="0">
                <a:solidFill>
                  <a:schemeClr val="tx1"/>
                </a:solidFill>
              </a:rPr>
              <a:t>scripts/validate-scan.py: Scan validation script</a:t>
            </a:r>
          </a:p>
          <a:p>
            <a:pPr marL="342900" indent="-342900">
              <a:spcBef>
                <a:spcPts val="1000"/>
              </a:spcBef>
              <a:buClr>
                <a:srgbClr val="8AD0D6"/>
              </a:buClr>
              <a:buSzPct val="80000"/>
              <a:buFont typeface="Wingdings"/>
              <a:buChar char="q"/>
            </a:pPr>
            <a:r>
              <a:rPr lang="en-IN" sz="1200" dirty="0">
                <a:solidFill>
                  <a:schemeClr val="tx1"/>
                </a:solidFill>
              </a:rPr>
              <a:t>scan-results/: Approved image scan results copied from </a:t>
            </a:r>
            <a:r>
              <a:rPr lang="en-IN" sz="1200" dirty="0" err="1">
                <a:solidFill>
                  <a:schemeClr val="tx1"/>
                </a:solidFill>
              </a:rPr>
              <a:t>Github</a:t>
            </a:r>
            <a:r>
              <a:rPr lang="en-IN" sz="1200" dirty="0">
                <a:solidFill>
                  <a:schemeClr val="tx1"/>
                </a:solidFill>
              </a:rPr>
              <a:t> Artifactory.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5350"/>
            <a:ext cx="8229600" cy="370503"/>
          </a:xfrm>
        </p:spPr>
        <p:txBody>
          <a:bodyPr>
            <a:noAutofit/>
          </a:bodyPr>
          <a:lstStyle/>
          <a:p>
            <a:pPr algn="ctr"/>
            <a:r>
              <a:rPr sz="2400" b="1" dirty="0">
                <a:solidFill>
                  <a:schemeClr val="tx1"/>
                </a:solidFill>
                <a:latin typeface="+mn-lt"/>
                <a:ea typeface="+mn-ea"/>
                <a:cs typeface="+mn-cs"/>
              </a:rPr>
              <a:t>Promotion Flow</a:t>
            </a:r>
            <a:endParaRPr lang="en-US">
              <a:ea typeface="+mn-ea"/>
              <a:cs typeface="+mn-cs"/>
            </a:endParaRPr>
          </a:p>
        </p:txBody>
      </p:sp>
      <p:sp>
        <p:nvSpPr>
          <p:cNvPr id="3" name="Content Placeholder 2"/>
          <p:cNvSpPr>
            <a:spLocks noGrp="1"/>
          </p:cNvSpPr>
          <p:nvPr>
            <p:ph idx="1"/>
          </p:nvPr>
        </p:nvSpPr>
        <p:spPr>
          <a:xfrm>
            <a:off x="457199" y="5125616"/>
            <a:ext cx="8362335" cy="1644804"/>
          </a:xfrm>
        </p:spPr>
        <p:txBody>
          <a:bodyPr vert="horz" lIns="91440" tIns="45720" rIns="91440" bIns="45720" rtlCol="0" anchor="t">
            <a:noAutofit/>
          </a:bodyPr>
          <a:lstStyle/>
          <a:p>
            <a:pPr marL="342900" indent="-342900">
              <a:buClr>
                <a:srgbClr val="1E5155">
                  <a:lumMod val="40000"/>
                  <a:lumOff val="60000"/>
                </a:srgbClr>
              </a:buClr>
              <a:buFont typeface="Wingdings" charset="2"/>
              <a:buChar char="Ø"/>
            </a:pPr>
            <a:r>
              <a:rPr sz="1200" dirty="0">
                <a:latin typeface="+mn-lt"/>
                <a:ea typeface="+mn-ea"/>
                <a:cs typeface="+mn-cs"/>
              </a:rPr>
              <a:t>Changes move via PRs: dev → </a:t>
            </a:r>
            <a:r>
              <a:rPr sz="1200" dirty="0" err="1">
                <a:latin typeface="+mn-lt"/>
                <a:ea typeface="+mn-ea"/>
                <a:cs typeface="+mn-cs"/>
              </a:rPr>
              <a:t>uat</a:t>
            </a:r>
            <a:r>
              <a:rPr sz="1200" dirty="0">
                <a:latin typeface="+mn-lt"/>
                <a:ea typeface="+mn-ea"/>
                <a:cs typeface="+mn-cs"/>
              </a:rPr>
              <a:t> → main</a:t>
            </a:r>
            <a:r>
              <a:rPr lang="en-US" sz="1200" dirty="0">
                <a:latin typeface="+mn-lt"/>
                <a:ea typeface="+mn-ea"/>
                <a:cs typeface="+mn-cs"/>
              </a:rPr>
              <a:t>.</a:t>
            </a:r>
            <a:endParaRPr lang="en-US" sz="1200" dirty="0">
              <a:ea typeface="+mn-ea"/>
              <a:cs typeface="+mn-cs"/>
            </a:endParaRPr>
          </a:p>
          <a:p>
            <a:pPr marL="342900" indent="-342900">
              <a:buFont typeface="Wingdings" charset="2"/>
              <a:buChar char="Ø"/>
            </a:pPr>
            <a:r>
              <a:rPr sz="1200" dirty="0">
                <a:latin typeface="+mn-lt"/>
                <a:ea typeface="+mn-ea"/>
                <a:cs typeface="+mn-cs"/>
              </a:rPr>
              <a:t>Scan results promoted along with image</a:t>
            </a:r>
            <a:r>
              <a:rPr lang="en-US" sz="1200" dirty="0">
                <a:latin typeface="+mn-lt"/>
                <a:ea typeface="+mn-ea"/>
                <a:cs typeface="+mn-cs"/>
              </a:rPr>
              <a:t>.</a:t>
            </a:r>
            <a:endParaRPr sz="1200" dirty="0">
              <a:latin typeface="+mn-lt"/>
              <a:ea typeface="+mn-ea"/>
              <a:cs typeface="+mn-cs"/>
            </a:endParaRPr>
          </a:p>
          <a:p>
            <a:pPr marL="342900" indent="-342900">
              <a:buFont typeface="Wingdings" charset="2"/>
              <a:buChar char="Ø"/>
            </a:pPr>
            <a:r>
              <a:rPr sz="1200" dirty="0">
                <a:latin typeface="+mn-lt"/>
                <a:ea typeface="+mn-ea"/>
                <a:cs typeface="+mn-cs"/>
              </a:rPr>
              <a:t>Branch protection can enforce quality</a:t>
            </a:r>
            <a:r>
              <a:rPr lang="en-US" sz="1200" dirty="0">
                <a:latin typeface="+mn-lt"/>
                <a:ea typeface="+mn-ea"/>
                <a:cs typeface="+mn-cs"/>
              </a:rPr>
              <a:t>.</a:t>
            </a:r>
          </a:p>
          <a:p>
            <a:pPr marL="342900" indent="-342900">
              <a:buClr>
                <a:srgbClr val="8AD0D6"/>
              </a:buClr>
              <a:buFont typeface="Wingdings" charset="2"/>
              <a:buChar char="Ø"/>
            </a:pPr>
            <a:r>
              <a:rPr lang="en-US" sz="1200" dirty="0">
                <a:latin typeface="+mn-lt"/>
                <a:ea typeface="+mn-ea"/>
                <a:cs typeface="+mn-cs"/>
              </a:rPr>
              <a:t>Traceability from scan to deployment.</a:t>
            </a:r>
          </a:p>
          <a:p>
            <a:pPr marL="342900" indent="-342900">
              <a:buClr>
                <a:srgbClr val="8AD0D6"/>
              </a:buClr>
              <a:buFont typeface="Wingdings" charset="2"/>
              <a:buChar char="Ø"/>
            </a:pPr>
            <a:r>
              <a:rPr lang="en-US" sz="1200" dirty="0">
                <a:latin typeface="+mn-lt"/>
                <a:ea typeface="+mn-ea"/>
                <a:cs typeface="+mn-cs"/>
              </a:rPr>
              <a:t>Release/dev has read only access to developer and feature branch is merged to release/dev after raising PR. </a:t>
            </a:r>
          </a:p>
        </p:txBody>
      </p:sp>
      <p:pic>
        <p:nvPicPr>
          <p:cNvPr id="5" name="Picture 4" descr="A diagram of a workflow&#10;&#10;AI-generated content may be incorrect.">
            <a:extLst>
              <a:ext uri="{FF2B5EF4-FFF2-40B4-BE49-F238E27FC236}">
                <a16:creationId xmlns:a16="http://schemas.microsoft.com/office/drawing/2014/main" id="{B09F4152-4330-639B-AC74-FBA211A54F19}"/>
              </a:ext>
            </a:extLst>
          </p:cNvPr>
          <p:cNvPicPr>
            <a:picLocks noChangeAspect="1"/>
          </p:cNvPicPr>
          <p:nvPr/>
        </p:nvPicPr>
        <p:blipFill>
          <a:blip r:embed="rId2"/>
          <a:srcRect t="3046" r="204" b="4822"/>
          <a:stretch>
            <a:fillRect/>
          </a:stretch>
        </p:blipFill>
        <p:spPr>
          <a:xfrm>
            <a:off x="321544" y="812959"/>
            <a:ext cx="8494144" cy="40425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88491"/>
            <a:ext cx="8509819" cy="324464"/>
          </a:xfrm>
        </p:spPr>
        <p:txBody>
          <a:bodyPr>
            <a:noAutofit/>
          </a:bodyPr>
          <a:lstStyle/>
          <a:p>
            <a:pPr algn="ctr"/>
            <a:r>
              <a:rPr sz="2400" b="1" dirty="0">
                <a:solidFill>
                  <a:schemeClr val="tx1"/>
                </a:solidFill>
                <a:latin typeface="+mn-lt"/>
                <a:ea typeface="+mn-ea"/>
                <a:cs typeface="+mn-cs"/>
              </a:rPr>
              <a:t>Governance Strategy</a:t>
            </a:r>
            <a:endParaRPr lang="en-US">
              <a:ea typeface="+mn-ea"/>
              <a:cs typeface="+mn-cs"/>
            </a:endParaRPr>
          </a:p>
        </p:txBody>
      </p:sp>
      <p:sp>
        <p:nvSpPr>
          <p:cNvPr id="3" name="Content Placeholder 2"/>
          <p:cNvSpPr>
            <a:spLocks noGrp="1"/>
          </p:cNvSpPr>
          <p:nvPr>
            <p:ph idx="1"/>
          </p:nvPr>
        </p:nvSpPr>
        <p:spPr>
          <a:xfrm>
            <a:off x="312233" y="4941014"/>
            <a:ext cx="5184598" cy="1596782"/>
          </a:xfrm>
        </p:spPr>
        <p:txBody>
          <a:bodyPr vert="horz" lIns="91440" tIns="45720" rIns="91440" bIns="45720" rtlCol="0" anchor="t">
            <a:noAutofit/>
          </a:bodyPr>
          <a:lstStyle/>
          <a:p>
            <a:pPr marL="342900" indent="-342900">
              <a:buFont typeface="Wingdings" charset="2"/>
              <a:buChar char="Ø"/>
            </a:pPr>
            <a:r>
              <a:rPr lang="en-US" sz="1400" dirty="0">
                <a:latin typeface="+mn-lt"/>
                <a:ea typeface="+mn-ea"/>
                <a:cs typeface="+mn-cs"/>
              </a:rPr>
              <a:t>V</a:t>
            </a:r>
            <a:r>
              <a:rPr sz="1400" dirty="0">
                <a:latin typeface="+mn-lt"/>
                <a:ea typeface="+mn-ea"/>
                <a:cs typeface="+mn-cs"/>
              </a:rPr>
              <a:t>alidate-scan.py checks for CVEs</a:t>
            </a:r>
            <a:endParaRPr lang="en-US" sz="1400" dirty="0">
              <a:latin typeface="+mn-lt"/>
              <a:ea typeface="+mn-ea"/>
              <a:cs typeface="+mn-cs"/>
            </a:endParaRPr>
          </a:p>
          <a:p>
            <a:pPr marL="342900" indent="-342900">
              <a:buFont typeface="Wingdings" charset="2"/>
              <a:buChar char="Ø"/>
            </a:pPr>
            <a:r>
              <a:rPr sz="1400" dirty="0">
                <a:latin typeface="+mn-lt"/>
                <a:ea typeface="+mn-ea"/>
                <a:cs typeface="+mn-cs"/>
              </a:rPr>
              <a:t>Blocks deploy if critical CVEs found</a:t>
            </a:r>
          </a:p>
          <a:p>
            <a:pPr marL="342900" indent="-342900">
              <a:buFont typeface="Wingdings" charset="2"/>
              <a:buChar char="Ø"/>
            </a:pPr>
            <a:r>
              <a:rPr sz="1400" dirty="0">
                <a:latin typeface="+mn-lt"/>
                <a:ea typeface="+mn-ea"/>
                <a:cs typeface="+mn-cs"/>
              </a:rPr>
              <a:t>Dispensation files allow justified exceptions</a:t>
            </a:r>
          </a:p>
          <a:p>
            <a:pPr marL="342900" indent="-342900">
              <a:buFont typeface="Wingdings" charset="2"/>
              <a:buChar char="Ø"/>
            </a:pPr>
            <a:r>
              <a:rPr lang="en-US" sz="1400" dirty="0">
                <a:latin typeface="+mn-lt"/>
                <a:ea typeface="+mn-ea"/>
                <a:cs typeface="+mn-cs"/>
              </a:rPr>
              <a:t>Centralized in </a:t>
            </a:r>
            <a:r>
              <a:rPr sz="1400" dirty="0">
                <a:latin typeface="+mn-lt"/>
                <a:ea typeface="+mn-ea"/>
                <a:cs typeface="+mn-cs"/>
              </a:rPr>
              <a:t>ci-config branch</a:t>
            </a:r>
          </a:p>
        </p:txBody>
      </p:sp>
      <p:pic>
        <p:nvPicPr>
          <p:cNvPr id="5" name="Picture 4" descr="A diagram of a software process&#10;&#10;AI-generated content may be incorrect.">
            <a:extLst>
              <a:ext uri="{FF2B5EF4-FFF2-40B4-BE49-F238E27FC236}">
                <a16:creationId xmlns:a16="http://schemas.microsoft.com/office/drawing/2014/main" id="{FB74E914-4066-E72C-2B37-DFF610A4DF46}"/>
              </a:ext>
            </a:extLst>
          </p:cNvPr>
          <p:cNvPicPr>
            <a:picLocks noChangeAspect="1"/>
          </p:cNvPicPr>
          <p:nvPr/>
        </p:nvPicPr>
        <p:blipFill>
          <a:blip r:embed="rId2"/>
          <a:srcRect l="1560" t="6130" b="30123"/>
          <a:stretch>
            <a:fillRect/>
          </a:stretch>
        </p:blipFill>
        <p:spPr>
          <a:xfrm>
            <a:off x="313314" y="671232"/>
            <a:ext cx="8507660" cy="40631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ontent Placeholder 2">
            <a:extLst>
              <a:ext uri="{FF2B5EF4-FFF2-40B4-BE49-F238E27FC236}">
                <a16:creationId xmlns:a16="http://schemas.microsoft.com/office/drawing/2014/main" id="{B30EAEF4-9F35-5EC3-84A2-95482566014B}"/>
              </a:ext>
            </a:extLst>
          </p:cNvPr>
          <p:cNvSpPr txBox="1">
            <a:spLocks/>
          </p:cNvSpPr>
          <p:nvPr/>
        </p:nvSpPr>
        <p:spPr>
          <a:xfrm>
            <a:off x="4568282" y="4937297"/>
            <a:ext cx="4270198" cy="1596782"/>
          </a:xfrm>
          <a:prstGeom prst="rect">
            <a:avLst/>
          </a:prstGeom>
        </p:spPr>
        <p:txBody>
          <a:bodyPr vert="horz" lIns="91440" tIns="45720" rIns="91440" bIns="45720" rtlCol="0" anchor="t">
            <a:no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342900" indent="-342900">
              <a:buFont typeface="Wingdings" charset="2"/>
              <a:buChar char="Ø"/>
            </a:pPr>
            <a:r>
              <a:rPr lang="en-US" sz="1400" i="1" dirty="0">
                <a:latin typeface="+mn-lt"/>
                <a:ea typeface="+mn-ea"/>
                <a:cs typeface="+mn-cs"/>
              </a:rPr>
              <a:t>Audit logs for dispensation overrides</a:t>
            </a:r>
          </a:p>
          <a:p>
            <a:pPr marL="342900" indent="-342900">
              <a:buClr>
                <a:srgbClr val="8AD0D6"/>
              </a:buClr>
              <a:buFont typeface="Wingdings" charset="2"/>
              <a:buChar char="Ø"/>
            </a:pPr>
            <a:r>
              <a:rPr lang="en-US" sz="1400" i="1" dirty="0">
                <a:latin typeface="+mn-lt"/>
                <a:ea typeface="+mn-ea"/>
                <a:cs typeface="+mn-cs"/>
              </a:rPr>
              <a:t>Separation of duties between dev , security and Ops Team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10" name="Picture 9">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12" name="Oval 11">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4" name="Picture 13">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16" name="Picture 15">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18" name="Rectangle 17">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67CA421-FA2B-47ED-A101-F8BBEBB2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97809" y="657664"/>
            <a:ext cx="2906600" cy="5540076"/>
          </a:xfrm>
        </p:spPr>
        <p:txBody>
          <a:bodyPr vert="horz" lIns="91440" tIns="45720" rIns="91440" bIns="45720" rtlCol="0" anchor="b">
            <a:noAutofit/>
          </a:bodyPr>
          <a:lstStyle/>
          <a:p>
            <a:pPr marL="228600" indent="-228600" defTabSz="457200">
              <a:buAutoNum type="arabicPeriod"/>
            </a:pPr>
            <a:r>
              <a:rPr lang="en-US" sz="1200">
                <a:solidFill>
                  <a:srgbClr val="EBEBEB"/>
                </a:solidFill>
                <a:ea typeface="+mj-lt"/>
                <a:cs typeface="+mj-lt"/>
              </a:rPr>
              <a:t>Identify the issue in production </a:t>
            </a:r>
            <a:r>
              <a:rPr lang="en-US" sz="1200" dirty="0">
                <a:solidFill>
                  <a:srgbClr val="EBEBEB"/>
                </a:solidFill>
                <a:ea typeface="+mj-lt"/>
                <a:cs typeface="+mj-lt"/>
              </a:rPr>
              <a:t>and decide the last known stable deployment commit in main.</a:t>
            </a:r>
            <a:endParaRPr lang="en-US" sz="1200" dirty="0"/>
          </a:p>
          <a:p>
            <a:pPr marL="228600" indent="-228600" defTabSz="457200">
              <a:buAutoNum type="arabicPeriod"/>
            </a:pPr>
            <a:endParaRPr lang="en-US" sz="1200" dirty="0"/>
          </a:p>
          <a:p>
            <a:pPr marL="228600" indent="-228600" defTabSz="457200">
              <a:buAutoNum type="arabicPeriod"/>
            </a:pPr>
            <a:r>
              <a:rPr lang="en-US" sz="1200" dirty="0">
                <a:solidFill>
                  <a:srgbClr val="EBEBEB"/>
                </a:solidFill>
                <a:ea typeface="+mj-lt"/>
                <a:cs typeface="+mj-lt"/>
              </a:rPr>
              <a:t>Checkout that commit in main to get the exact application version.</a:t>
            </a:r>
            <a:endParaRPr lang="en-US" sz="1200" dirty="0"/>
          </a:p>
          <a:p>
            <a:pPr marL="228600" indent="-228600" defTabSz="457200">
              <a:buAutoNum type="arabicPeriod"/>
            </a:pPr>
            <a:endParaRPr lang="en-US" sz="1200" dirty="0"/>
          </a:p>
          <a:p>
            <a:pPr marL="228600" indent="-228600" defTabSz="457200">
              <a:buAutoNum type="arabicPeriod"/>
            </a:pPr>
            <a:r>
              <a:rPr lang="en-US" sz="1200" dirty="0">
                <a:solidFill>
                  <a:srgbClr val="EBEBEB"/>
                </a:solidFill>
                <a:ea typeface="+mj-lt"/>
                <a:cs typeface="+mj-lt"/>
              </a:rPr>
              <a:t>Read the governance version file (governance-version-&lt;</a:t>
            </a:r>
            <a:r>
              <a:rPr lang="en-US" sz="1200" err="1">
                <a:solidFill>
                  <a:srgbClr val="EBEBEB"/>
                </a:solidFill>
                <a:ea typeface="+mj-lt"/>
                <a:cs typeface="+mj-lt"/>
              </a:rPr>
              <a:t>imageSHA</a:t>
            </a:r>
            <a:r>
              <a:rPr lang="en-US" sz="1200" dirty="0">
                <a:solidFill>
                  <a:srgbClr val="EBEBEB"/>
                </a:solidFill>
                <a:ea typeface="+mj-lt"/>
                <a:cs typeface="+mj-lt"/>
              </a:rPr>
              <a:t>&gt;.txt) from that commit to find the matching ci-config commit.</a:t>
            </a:r>
            <a:endParaRPr lang="en-US" sz="1200" dirty="0"/>
          </a:p>
          <a:p>
            <a:pPr marL="228600" indent="-228600" defTabSz="457200">
              <a:buAutoNum type="arabicPeriod"/>
            </a:pPr>
            <a:endParaRPr lang="en-US" sz="1200" dirty="0"/>
          </a:p>
          <a:p>
            <a:pPr marL="228600" indent="-228600" defTabSz="457200">
              <a:buAutoNum type="arabicPeriod"/>
            </a:pPr>
            <a:r>
              <a:rPr lang="en-US" sz="1200" dirty="0">
                <a:solidFill>
                  <a:srgbClr val="EBEBEB"/>
                </a:solidFill>
                <a:ea typeface="+mj-lt"/>
                <a:cs typeface="+mj-lt"/>
              </a:rPr>
              <a:t>Checkout the ci-config repo at that specific commit to restore the exact security policies used earlier.</a:t>
            </a:r>
            <a:endParaRPr lang="en-US" sz="1200" dirty="0"/>
          </a:p>
          <a:p>
            <a:pPr marL="228600" indent="-228600" defTabSz="457200">
              <a:buAutoNum type="arabicPeriod"/>
            </a:pPr>
            <a:endParaRPr lang="en-US" sz="1200" dirty="0"/>
          </a:p>
          <a:p>
            <a:pPr marL="228600" indent="-228600" defTabSz="457200">
              <a:buAutoNum type="arabicPeriod"/>
            </a:pPr>
            <a:r>
              <a:rPr lang="en-US" sz="1200" dirty="0">
                <a:solidFill>
                  <a:srgbClr val="EBEBEB"/>
                </a:solidFill>
                <a:ea typeface="+mj-lt"/>
                <a:cs typeface="+mj-lt"/>
              </a:rPr>
              <a:t>Deploy the same Docker image (</a:t>
            </a:r>
            <a:r>
              <a:rPr lang="en-US" sz="1200" err="1">
                <a:solidFill>
                  <a:srgbClr val="EBEBEB"/>
                </a:solidFill>
                <a:ea typeface="+mj-lt"/>
                <a:cs typeface="+mj-lt"/>
              </a:rPr>
              <a:t>helloworld</a:t>
            </a:r>
            <a:r>
              <a:rPr lang="en-US" sz="1200" dirty="0">
                <a:solidFill>
                  <a:srgbClr val="EBEBEB"/>
                </a:solidFill>
                <a:ea typeface="+mj-lt"/>
                <a:cs typeface="+mj-lt"/>
              </a:rPr>
              <a:t>:&lt;</a:t>
            </a:r>
            <a:r>
              <a:rPr lang="en-US" sz="1200" err="1">
                <a:solidFill>
                  <a:srgbClr val="EBEBEB"/>
                </a:solidFill>
                <a:ea typeface="+mj-lt"/>
                <a:cs typeface="+mj-lt"/>
              </a:rPr>
              <a:t>imageSHA</a:t>
            </a:r>
            <a:r>
              <a:rPr lang="en-US" sz="1200" dirty="0">
                <a:solidFill>
                  <a:srgbClr val="EBEBEB"/>
                </a:solidFill>
                <a:ea typeface="+mj-lt"/>
                <a:cs typeface="+mj-lt"/>
              </a:rPr>
              <a:t>&gt;) that was previously validated.</a:t>
            </a:r>
            <a:endParaRPr lang="en-US" sz="1200" dirty="0"/>
          </a:p>
        </p:txBody>
      </p:sp>
      <p:sp useBgFill="1">
        <p:nvSpPr>
          <p:cNvPr id="22" name="Rectangle 21">
            <a:extLst>
              <a:ext uri="{FF2B5EF4-FFF2-40B4-BE49-F238E27FC236}">
                <a16:creationId xmlns:a16="http://schemas.microsoft.com/office/drawing/2014/main" id="{12425D82-CD5E-45A4-9542-70951E59F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685" y="639905"/>
            <a:ext cx="5186748"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21DB897-A621-4D5F-AC81-91199AC43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3" name="Picture 2" descr="A screenshot of a cell phone&#10;&#10;AI-generated content may be incorrect.">
            <a:extLst>
              <a:ext uri="{FF2B5EF4-FFF2-40B4-BE49-F238E27FC236}">
                <a16:creationId xmlns:a16="http://schemas.microsoft.com/office/drawing/2014/main" id="{34F03EA6-190F-D78F-F730-E37BDAD020CA}"/>
              </a:ext>
            </a:extLst>
          </p:cNvPr>
          <p:cNvPicPr>
            <a:picLocks noChangeAspect="1"/>
          </p:cNvPicPr>
          <p:nvPr/>
        </p:nvPicPr>
        <p:blipFill>
          <a:blip r:embed="rId6"/>
          <a:stretch>
            <a:fillRect/>
          </a:stretch>
        </p:blipFill>
        <p:spPr>
          <a:xfrm>
            <a:off x="716544" y="1101476"/>
            <a:ext cx="4706688" cy="4660240"/>
          </a:xfrm>
          <a:prstGeom prst="rect">
            <a:avLst/>
          </a:prstGeom>
          <a:effectLst/>
        </p:spPr>
      </p:pic>
      <p:sp>
        <p:nvSpPr>
          <p:cNvPr id="4" name="TextBox 3">
            <a:extLst>
              <a:ext uri="{FF2B5EF4-FFF2-40B4-BE49-F238E27FC236}">
                <a16:creationId xmlns:a16="http://schemas.microsoft.com/office/drawing/2014/main" id="{2AD61454-0520-9003-973B-95EC368E780E}"/>
              </a:ext>
            </a:extLst>
          </p:cNvPr>
          <p:cNvSpPr txBox="1"/>
          <p:nvPr/>
        </p:nvSpPr>
        <p:spPr>
          <a:xfrm>
            <a:off x="6159225" y="870325"/>
            <a:ext cx="262771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bg1"/>
                </a:solidFill>
              </a:rPr>
              <a:t>Rollback Strategy</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941" y="1261609"/>
            <a:ext cx="8315467" cy="3289375"/>
          </a:xfrm>
        </p:spPr>
        <p:txBody>
          <a:bodyPr/>
          <a:lstStyle/>
          <a:p>
            <a:pPr marL="342900" indent="-342900">
              <a:spcBef>
                <a:spcPts val="1000"/>
              </a:spcBef>
              <a:buFont typeface="Arial"/>
              <a:buChar char="•"/>
            </a:pPr>
            <a:r>
              <a:rPr lang="en-US" sz="1800" dirty="0">
                <a:solidFill>
                  <a:schemeClr val="tx1"/>
                </a:solidFill>
                <a:ea typeface="+mn-ea"/>
                <a:cs typeface="+mn-cs"/>
              </a:rPr>
              <a:t>Create a hotfix branch from the current production (main) commit.</a:t>
            </a:r>
          </a:p>
          <a:p>
            <a:pPr marL="285750" indent="-285750">
              <a:spcBef>
                <a:spcPts val="1000"/>
              </a:spcBef>
              <a:buFont typeface="Arial"/>
              <a:buChar char="•"/>
            </a:pPr>
            <a:r>
              <a:rPr lang="en-US" sz="1800" dirty="0">
                <a:solidFill>
                  <a:schemeClr val="tx1"/>
                </a:solidFill>
                <a:ea typeface="+mn-ea"/>
                <a:cs typeface="+mn-cs"/>
              </a:rPr>
              <a:t>Apply only the required fix — keep changes minimal to reduce risk.</a:t>
            </a:r>
          </a:p>
          <a:p>
            <a:pPr marL="285750" indent="-285750">
              <a:spcBef>
                <a:spcPts val="1000"/>
              </a:spcBef>
              <a:buFont typeface="Arial"/>
              <a:buChar char="•"/>
            </a:pPr>
            <a:r>
              <a:rPr lang="en-US" sz="1800" dirty="0">
                <a:solidFill>
                  <a:schemeClr val="tx1"/>
                </a:solidFill>
                <a:ea typeface="+mn-ea"/>
                <a:cs typeface="+mn-cs"/>
              </a:rPr>
              <a:t>Run CI pipeline for that hotfix by creating a </a:t>
            </a:r>
            <a:r>
              <a:rPr lang="en-US" sz="1800" i="1" dirty="0">
                <a:solidFill>
                  <a:schemeClr val="tx1"/>
                </a:solidFill>
                <a:ea typeface="+mn-ea"/>
                <a:cs typeface="+mn-cs"/>
              </a:rPr>
              <a:t>PR from hotfix branch -&gt; release/dev</a:t>
            </a:r>
            <a:r>
              <a:rPr lang="en-US" sz="1800" dirty="0">
                <a:solidFill>
                  <a:schemeClr val="tx1"/>
                </a:solidFill>
                <a:ea typeface="+mn-ea"/>
                <a:cs typeface="+mn-cs"/>
              </a:rPr>
              <a:t>  to rebuild the image and generate scan results.</a:t>
            </a:r>
          </a:p>
          <a:p>
            <a:pPr marL="285750" indent="-285750">
              <a:spcBef>
                <a:spcPts val="1000"/>
              </a:spcBef>
              <a:buFont typeface="Arial"/>
              <a:buChar char="•"/>
            </a:pPr>
            <a:r>
              <a:rPr lang="en-US" sz="1800" dirty="0">
                <a:solidFill>
                  <a:schemeClr val="tx1"/>
                </a:solidFill>
                <a:ea typeface="+mn-ea"/>
                <a:cs typeface="+mn-cs"/>
              </a:rPr>
              <a:t>Ensure governance validation passes using the latest approved rules from ci-config.</a:t>
            </a:r>
          </a:p>
          <a:p>
            <a:pPr marL="285750" indent="-285750">
              <a:spcBef>
                <a:spcPts val="1000"/>
              </a:spcBef>
              <a:buFont typeface="Arial"/>
              <a:buChar char="•"/>
            </a:pPr>
            <a:r>
              <a:rPr lang="en-US" sz="1800" dirty="0">
                <a:solidFill>
                  <a:schemeClr val="tx1"/>
                </a:solidFill>
                <a:ea typeface="+mn-ea"/>
                <a:cs typeface="+mn-cs"/>
              </a:rPr>
              <a:t>Merge the hotfix branch into main and deploy immediately to production.</a:t>
            </a:r>
            <a:endParaRPr lang="en-US" sz="1800">
              <a:solidFill>
                <a:schemeClr val="tx1"/>
              </a:solidFill>
              <a:ea typeface="+mn-ea"/>
              <a:cs typeface="+mn-cs"/>
            </a:endParaRPr>
          </a:p>
          <a:p>
            <a:pPr>
              <a:spcBef>
                <a:spcPts val="1000"/>
              </a:spcBef>
            </a:pPr>
            <a:endParaRPr lang="en-US" sz="2000" dirty="0">
              <a:latin typeface="+mn-lt"/>
              <a:ea typeface="+mn-ea"/>
              <a:cs typeface="+mn-cs"/>
            </a:endParaRPr>
          </a:p>
        </p:txBody>
      </p:sp>
      <p:sp>
        <p:nvSpPr>
          <p:cNvPr id="3" name="TextBox 2">
            <a:extLst>
              <a:ext uri="{FF2B5EF4-FFF2-40B4-BE49-F238E27FC236}">
                <a16:creationId xmlns:a16="http://schemas.microsoft.com/office/drawing/2014/main" id="{676FE8EC-97DA-55DB-EFE8-E50513B4DFD2}"/>
              </a:ext>
            </a:extLst>
          </p:cNvPr>
          <p:cNvSpPr txBox="1"/>
          <p:nvPr/>
        </p:nvSpPr>
        <p:spPr>
          <a:xfrm>
            <a:off x="602533" y="652743"/>
            <a:ext cx="652744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latin typeface="+mj-lt"/>
              </a:rPr>
              <a:t>Emergency fixes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C53C0-0C93-27A4-CFEF-BC289571F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3F4BF-C411-F353-418D-08FEB12F5ECB}"/>
              </a:ext>
            </a:extLst>
          </p:cNvPr>
          <p:cNvSpPr>
            <a:spLocks noGrp="1"/>
          </p:cNvSpPr>
          <p:nvPr>
            <p:ph type="title"/>
          </p:nvPr>
        </p:nvSpPr>
        <p:spPr>
          <a:xfrm>
            <a:off x="412370" y="559082"/>
            <a:ext cx="8315467" cy="4939755"/>
          </a:xfrm>
        </p:spPr>
        <p:txBody>
          <a:bodyPr/>
          <a:lstStyle/>
          <a:p>
            <a:r>
              <a:rPr lang="en-US" sz="2400" b="1" dirty="0">
                <a:ea typeface="+mn-ea"/>
                <a:cs typeface="+mn-cs"/>
              </a:rPr>
              <a:t>Preventing Tampering with Scan Results</a:t>
            </a:r>
            <a:endParaRPr lang="en-US" sz="2400" dirty="0">
              <a:solidFill>
                <a:schemeClr val="tx1"/>
              </a:solidFill>
              <a:latin typeface="+mn-lt"/>
              <a:ea typeface="+mn-ea"/>
              <a:cs typeface="+mn-cs"/>
            </a:endParaRPr>
          </a:p>
          <a:p>
            <a:endParaRPr lang="en-US" sz="1800" b="1" dirty="0">
              <a:solidFill>
                <a:schemeClr val="tx1"/>
              </a:solidFill>
              <a:ea typeface="+mn-ea"/>
              <a:cs typeface="+mn-cs"/>
            </a:endParaRPr>
          </a:p>
          <a:p>
            <a:r>
              <a:rPr lang="en-US" sz="1800" b="1" dirty="0">
                <a:solidFill>
                  <a:schemeClr val="tx1"/>
                </a:solidFill>
                <a:ea typeface="+mj-lt"/>
                <a:cs typeface="+mj-lt"/>
              </a:rPr>
              <a:t>Branch protection rules</a:t>
            </a:r>
            <a:r>
              <a:rPr lang="en-US" sz="1800" dirty="0">
                <a:solidFill>
                  <a:schemeClr val="tx1"/>
                </a:solidFill>
                <a:ea typeface="+mj-lt"/>
                <a:cs typeface="+mj-lt"/>
              </a:rPr>
              <a:t>:</a:t>
            </a:r>
            <a:br>
              <a:rPr lang="en-US" sz="1800" dirty="0">
                <a:solidFill>
                  <a:schemeClr val="tx1"/>
                </a:solidFill>
                <a:ea typeface="+mj-lt"/>
                <a:cs typeface="+mj-lt"/>
              </a:rPr>
            </a:br>
            <a:endParaRPr lang="en-US" sz="800">
              <a:solidFill>
                <a:schemeClr val="tx1"/>
              </a:solidFill>
              <a:ea typeface="+mn-ea"/>
              <a:cs typeface="+mn-cs"/>
            </a:endParaRPr>
          </a:p>
          <a:p>
            <a:pPr lvl="1">
              <a:buFont typeface="Arial"/>
              <a:buChar char="•"/>
            </a:pPr>
            <a:r>
              <a:rPr lang="en-US" dirty="0">
                <a:solidFill>
                  <a:schemeClr val="tx1"/>
                </a:solidFill>
                <a:latin typeface="+mj-lt"/>
                <a:ea typeface="+mj-lt"/>
                <a:cs typeface="+mj-lt"/>
              </a:rPr>
              <a:t> Only </a:t>
            </a:r>
            <a:r>
              <a:rPr lang="en-US" dirty="0">
                <a:solidFill>
                  <a:schemeClr val="tx1"/>
                </a:solidFill>
                <a:latin typeface="Consolas"/>
                <a:ea typeface="+mn-ea"/>
                <a:cs typeface="+mn-cs"/>
              </a:rPr>
              <a:t>release/dev</a:t>
            </a:r>
            <a:r>
              <a:rPr lang="en-US" dirty="0">
                <a:solidFill>
                  <a:schemeClr val="tx1"/>
                </a:solidFill>
                <a:latin typeface="+mj-lt"/>
                <a:ea typeface="+mj-lt"/>
                <a:cs typeface="+mj-lt"/>
              </a:rPr>
              <a:t> can generate and commit scan results.</a:t>
            </a:r>
            <a:endParaRPr lang="en-US" dirty="0">
              <a:solidFill>
                <a:schemeClr val="tx1"/>
              </a:solidFill>
              <a:ea typeface="+mn-ea"/>
              <a:cs typeface="+mn-cs"/>
            </a:endParaRPr>
          </a:p>
          <a:p>
            <a:pPr lvl="1">
              <a:buFont typeface="Arial"/>
              <a:buChar char="•"/>
            </a:pPr>
            <a:r>
              <a:rPr lang="en-US" dirty="0">
                <a:solidFill>
                  <a:schemeClr val="tx1"/>
                </a:solidFill>
                <a:latin typeface="+mj-lt"/>
                <a:ea typeface="+mj-lt"/>
                <a:cs typeface="+mj-lt"/>
              </a:rPr>
              <a:t> Direct pushes to </a:t>
            </a:r>
            <a:r>
              <a:rPr lang="en-US" dirty="0">
                <a:solidFill>
                  <a:schemeClr val="tx1"/>
                </a:solidFill>
                <a:latin typeface="Consolas"/>
                <a:ea typeface="+mn-ea"/>
                <a:cs typeface="+mn-cs"/>
              </a:rPr>
              <a:t>release/dev</a:t>
            </a:r>
            <a:r>
              <a:rPr lang="en-US" dirty="0">
                <a:solidFill>
                  <a:schemeClr val="tx1"/>
                </a:solidFill>
                <a:latin typeface="+mj-lt"/>
                <a:ea typeface="+mj-lt"/>
                <a:cs typeface="+mj-lt"/>
              </a:rPr>
              <a:t>, </a:t>
            </a:r>
            <a:r>
              <a:rPr lang="en-US" dirty="0">
                <a:solidFill>
                  <a:schemeClr val="tx1"/>
                </a:solidFill>
                <a:latin typeface="Consolas"/>
                <a:ea typeface="+mn-ea"/>
                <a:cs typeface="+mn-cs"/>
              </a:rPr>
              <a:t>release/</a:t>
            </a:r>
            <a:r>
              <a:rPr lang="en-US" dirty="0" err="1">
                <a:solidFill>
                  <a:schemeClr val="tx1"/>
                </a:solidFill>
                <a:latin typeface="Consolas"/>
                <a:ea typeface="+mn-ea"/>
                <a:cs typeface="+mn-cs"/>
              </a:rPr>
              <a:t>uat</a:t>
            </a:r>
            <a:r>
              <a:rPr lang="en-US" dirty="0">
                <a:solidFill>
                  <a:schemeClr val="tx1"/>
                </a:solidFill>
                <a:latin typeface="+mj-lt"/>
                <a:ea typeface="+mj-lt"/>
                <a:cs typeface="+mj-lt"/>
              </a:rPr>
              <a:t>, and </a:t>
            </a:r>
            <a:r>
              <a:rPr lang="en-US" dirty="0">
                <a:solidFill>
                  <a:schemeClr val="tx1"/>
                </a:solidFill>
                <a:latin typeface="Consolas"/>
                <a:ea typeface="+mn-ea"/>
                <a:cs typeface="+mn-cs"/>
              </a:rPr>
              <a:t>main</a:t>
            </a:r>
            <a:r>
              <a:rPr lang="en-US" dirty="0">
                <a:solidFill>
                  <a:schemeClr val="tx1"/>
                </a:solidFill>
                <a:latin typeface="+mj-lt"/>
                <a:ea typeface="+mj-lt"/>
                <a:cs typeface="+mj-lt"/>
              </a:rPr>
              <a:t> are blocked — PR or cherry-pick only.</a:t>
            </a:r>
            <a:br>
              <a:rPr lang="en-US" dirty="0">
                <a:solidFill>
                  <a:schemeClr val="tx1"/>
                </a:solidFill>
                <a:latin typeface="+mj-lt"/>
                <a:ea typeface="+mj-lt"/>
                <a:cs typeface="+mj-lt"/>
              </a:rPr>
            </a:br>
            <a:endParaRPr lang="en-US" dirty="0">
              <a:solidFill>
                <a:schemeClr val="tx1"/>
              </a:solidFill>
              <a:ea typeface="+mn-ea"/>
              <a:cs typeface="+mn-cs"/>
            </a:endParaRPr>
          </a:p>
          <a:p>
            <a:r>
              <a:rPr lang="en-US" sz="1800" b="1" dirty="0">
                <a:solidFill>
                  <a:schemeClr val="tx1"/>
                </a:solidFill>
                <a:ea typeface="+mj-lt"/>
                <a:cs typeface="+mj-lt"/>
              </a:rPr>
              <a:t>Governance enforcement</a:t>
            </a:r>
            <a:r>
              <a:rPr lang="en-US" sz="1800" dirty="0">
                <a:solidFill>
                  <a:schemeClr val="tx1"/>
                </a:solidFill>
                <a:ea typeface="+mj-lt"/>
                <a:cs typeface="+mj-lt"/>
              </a:rPr>
              <a:t>:</a:t>
            </a:r>
            <a:br>
              <a:rPr lang="en-US" sz="1800" dirty="0">
                <a:solidFill>
                  <a:schemeClr val="tx1"/>
                </a:solidFill>
                <a:ea typeface="+mj-lt"/>
                <a:cs typeface="+mj-lt"/>
              </a:rPr>
            </a:br>
            <a:endParaRPr lang="en-US" sz="800">
              <a:solidFill>
                <a:schemeClr val="tx1"/>
              </a:solidFill>
              <a:ea typeface="+mn-ea"/>
              <a:cs typeface="+mn-cs"/>
            </a:endParaRPr>
          </a:p>
          <a:p>
            <a:pPr lvl="1">
              <a:buFont typeface="Arial"/>
              <a:buChar char="•"/>
            </a:pPr>
            <a:r>
              <a:rPr lang="en-US" dirty="0">
                <a:solidFill>
                  <a:schemeClr val="tx1"/>
                </a:solidFill>
                <a:latin typeface="Consolas"/>
                <a:ea typeface="+mn-ea"/>
                <a:cs typeface="+mn-cs"/>
              </a:rPr>
              <a:t> ci-config/governance/</a:t>
            </a:r>
            <a:r>
              <a:rPr lang="en-US" dirty="0">
                <a:solidFill>
                  <a:schemeClr val="tx1"/>
                </a:solidFill>
                <a:latin typeface="+mj-lt"/>
                <a:ea typeface="+mj-lt"/>
                <a:cs typeface="+mj-lt"/>
              </a:rPr>
              <a:t> contains rules that validate scan results in CD before deployment.</a:t>
            </a:r>
            <a:endParaRPr lang="en-US" dirty="0">
              <a:solidFill>
                <a:schemeClr val="tx1"/>
              </a:solidFill>
              <a:ea typeface="+mn-ea"/>
              <a:cs typeface="+mn-cs"/>
            </a:endParaRPr>
          </a:p>
          <a:p>
            <a:pPr lvl="1">
              <a:buFont typeface="Arial"/>
              <a:buChar char="•"/>
            </a:pPr>
            <a:r>
              <a:rPr lang="en-US" dirty="0">
                <a:solidFill>
                  <a:schemeClr val="tx1"/>
                </a:solidFill>
                <a:latin typeface="Consolas"/>
                <a:ea typeface="+mn-ea"/>
                <a:cs typeface="+mn-cs"/>
              </a:rPr>
              <a:t> validate-scan.py</a:t>
            </a:r>
            <a:r>
              <a:rPr lang="en-US" dirty="0">
                <a:solidFill>
                  <a:schemeClr val="tx1"/>
                </a:solidFill>
                <a:latin typeface="+mj-lt"/>
                <a:ea typeface="+mj-lt"/>
                <a:cs typeface="+mj-lt"/>
              </a:rPr>
              <a:t> checks that:</a:t>
            </a:r>
            <a:endParaRPr lang="en-US" dirty="0">
              <a:solidFill>
                <a:schemeClr val="tx1"/>
              </a:solidFill>
              <a:ea typeface="+mn-ea"/>
              <a:cs typeface="+mn-cs"/>
            </a:endParaRPr>
          </a:p>
          <a:p>
            <a:pPr lvl="2"/>
            <a:r>
              <a:rPr lang="en-US" dirty="0">
                <a:solidFill>
                  <a:schemeClr val="tx1"/>
                </a:solidFill>
                <a:latin typeface="+mj-lt"/>
                <a:ea typeface="+mj-lt"/>
                <a:cs typeface="+mj-lt"/>
              </a:rPr>
              <a:t>      The file exists in the repo.</a:t>
            </a:r>
            <a:endParaRPr lang="en-US" dirty="0">
              <a:solidFill>
                <a:schemeClr val="tx1"/>
              </a:solidFill>
              <a:ea typeface="+mn-ea"/>
              <a:cs typeface="+mn-cs"/>
            </a:endParaRPr>
          </a:p>
          <a:p>
            <a:pPr lvl="2"/>
            <a:r>
              <a:rPr lang="en-US" dirty="0">
                <a:solidFill>
                  <a:schemeClr val="tx1"/>
                </a:solidFill>
                <a:latin typeface="+mj-lt"/>
                <a:ea typeface="+mj-lt"/>
                <a:cs typeface="+mj-lt"/>
              </a:rPr>
              <a:t>      The SHA in the scan file matches the image being deployed.</a:t>
            </a:r>
            <a:br>
              <a:rPr lang="en-US" dirty="0">
                <a:solidFill>
                  <a:schemeClr val="tx1"/>
                </a:solidFill>
                <a:latin typeface="+mj-lt"/>
                <a:ea typeface="+mj-lt"/>
                <a:cs typeface="+mj-lt"/>
              </a:rPr>
            </a:br>
            <a:endParaRPr lang="en-US">
              <a:solidFill>
                <a:schemeClr val="tx1"/>
              </a:solidFill>
              <a:ea typeface="+mn-ea"/>
              <a:cs typeface="+mn-cs"/>
            </a:endParaRPr>
          </a:p>
          <a:p>
            <a:r>
              <a:rPr lang="en-US" sz="1800" b="1" dirty="0">
                <a:solidFill>
                  <a:schemeClr val="tx1"/>
                </a:solidFill>
                <a:ea typeface="+mj-lt"/>
                <a:cs typeface="+mj-lt"/>
              </a:rPr>
              <a:t>Audit trail</a:t>
            </a:r>
            <a:r>
              <a:rPr lang="en-US" sz="1800" dirty="0">
                <a:solidFill>
                  <a:schemeClr val="tx1"/>
                </a:solidFill>
                <a:ea typeface="+mj-lt"/>
                <a:cs typeface="+mj-lt"/>
              </a:rPr>
              <a:t>:</a:t>
            </a:r>
            <a:br>
              <a:rPr lang="en-US" sz="1800" dirty="0">
                <a:solidFill>
                  <a:schemeClr val="tx1"/>
                </a:solidFill>
                <a:ea typeface="+mj-lt"/>
                <a:cs typeface="+mj-lt"/>
              </a:rPr>
            </a:br>
            <a:endParaRPr lang="en-US" sz="800">
              <a:solidFill>
                <a:schemeClr val="tx1"/>
              </a:solidFill>
              <a:ea typeface="+mn-ea"/>
              <a:cs typeface="+mn-cs"/>
            </a:endParaRPr>
          </a:p>
          <a:p>
            <a:pPr lvl="1">
              <a:buFont typeface="Arial"/>
              <a:buChar char="•"/>
            </a:pPr>
            <a:r>
              <a:rPr lang="en-US" dirty="0">
                <a:solidFill>
                  <a:schemeClr val="tx1"/>
                </a:solidFill>
                <a:latin typeface="+mj-lt"/>
                <a:ea typeface="+mj-lt"/>
                <a:cs typeface="+mj-lt"/>
              </a:rPr>
              <a:t>  Scan results are stored as committed JSON in GitHub, so every change is version-controlled and traceable.</a:t>
            </a:r>
            <a:endParaRPr lang="en-US" dirty="0">
              <a:solidFill>
                <a:schemeClr val="tx1"/>
              </a:solidFill>
              <a:ea typeface="+mn-ea"/>
              <a:cs typeface="+mn-cs"/>
            </a:endParaRPr>
          </a:p>
          <a:p>
            <a:pPr marL="342900" indent="-342900">
              <a:spcBef>
                <a:spcPts val="1000"/>
              </a:spcBef>
              <a:buFont typeface="Arial"/>
              <a:buChar char="•"/>
            </a:pPr>
            <a:endParaRPr lang="en-US" sz="1800" dirty="0">
              <a:solidFill>
                <a:schemeClr val="tx1"/>
              </a:solidFill>
              <a:latin typeface="+mn-lt"/>
              <a:ea typeface="+mn-ea"/>
              <a:cs typeface="+mn-cs"/>
            </a:endParaRPr>
          </a:p>
        </p:txBody>
      </p:sp>
    </p:spTree>
    <p:extLst>
      <p:ext uri="{BB962C8B-B14F-4D97-AF65-F5344CB8AC3E}">
        <p14:creationId xmlns:p14="http://schemas.microsoft.com/office/powerpoint/2010/main" val="259296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4E4BD-EF07-016D-DEC6-919B518FA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1F090-5CCB-FB12-8AEC-8C6AD74E9CD9}"/>
              </a:ext>
            </a:extLst>
          </p:cNvPr>
          <p:cNvSpPr>
            <a:spLocks noGrp="1"/>
          </p:cNvSpPr>
          <p:nvPr>
            <p:ph type="title"/>
          </p:nvPr>
        </p:nvSpPr>
        <p:spPr>
          <a:xfrm>
            <a:off x="479277" y="402965"/>
            <a:ext cx="8449281" cy="2754116"/>
          </a:xfrm>
        </p:spPr>
        <p:txBody>
          <a:bodyPr/>
          <a:lstStyle/>
          <a:p>
            <a:r>
              <a:rPr lang="en-US" sz="2400" b="1" dirty="0">
                <a:ea typeface="+mn-ea"/>
                <a:cs typeface="+mn-cs"/>
              </a:rPr>
              <a:t>Handling Stale or Missing Scan Data</a:t>
            </a:r>
            <a:endParaRPr lang="en-US" sz="2400" b="1" dirty="0">
              <a:ea typeface="+mj-lt"/>
              <a:cs typeface="+mj-lt"/>
            </a:endParaRPr>
          </a:p>
          <a:p>
            <a:pPr marL="342900" indent="-342900">
              <a:buAutoNum type="arabicPeriod"/>
            </a:pPr>
            <a:r>
              <a:rPr lang="en-US" sz="1800" dirty="0">
                <a:solidFill>
                  <a:schemeClr val="tx1"/>
                </a:solidFill>
                <a:ea typeface="+mn-ea"/>
                <a:cs typeface="+mn-cs"/>
              </a:rPr>
              <a:t>CD pipeline explicitly fetches scan results from </a:t>
            </a:r>
            <a:r>
              <a:rPr lang="en-US" sz="1800" dirty="0" err="1">
                <a:solidFill>
                  <a:schemeClr val="tx1"/>
                </a:solidFill>
                <a:ea typeface="+mn-ea"/>
                <a:cs typeface="+mn-cs"/>
              </a:rPr>
              <a:t>Github</a:t>
            </a:r>
            <a:r>
              <a:rPr lang="en-US" sz="1800" dirty="0">
                <a:solidFill>
                  <a:schemeClr val="tx1"/>
                </a:solidFill>
                <a:ea typeface="+mn-ea"/>
                <a:cs typeface="+mn-cs"/>
              </a:rPr>
              <a:t> artifact for which we have given limited access only to responsible teams</a:t>
            </a:r>
            <a:r>
              <a:rPr lang="en-US" sz="1800" b="1" dirty="0">
                <a:solidFill>
                  <a:schemeClr val="tx1"/>
                </a:solidFill>
                <a:ea typeface="+mj-lt"/>
                <a:cs typeface="+mj-lt"/>
              </a:rPr>
              <a:t>.</a:t>
            </a:r>
            <a:br>
              <a:rPr lang="en-US" sz="1800" b="1" dirty="0">
                <a:solidFill>
                  <a:schemeClr val="tx1"/>
                </a:solidFill>
                <a:ea typeface="+mj-lt"/>
                <a:cs typeface="+mj-lt"/>
              </a:rPr>
            </a:br>
            <a:endParaRPr lang="en-US" sz="1800" b="1" dirty="0">
              <a:solidFill>
                <a:schemeClr val="tx1"/>
              </a:solidFill>
              <a:ea typeface="+mj-lt"/>
              <a:cs typeface="+mj-lt"/>
            </a:endParaRPr>
          </a:p>
          <a:p>
            <a:pPr marL="285750" indent="-285750">
              <a:buAutoNum type="arabicPeriod"/>
            </a:pPr>
            <a:r>
              <a:rPr lang="en-US" sz="1800" dirty="0">
                <a:ea typeface="+mj-lt"/>
                <a:cs typeface="+mj-lt"/>
              </a:rPr>
              <a:t>If the scan result for that SHA is missing, the validation step fails immediately: This prevents deploying unscanned </a:t>
            </a:r>
            <a:r>
              <a:rPr lang="en-US" sz="1800" dirty="0" err="1">
                <a:ea typeface="+mj-lt"/>
                <a:cs typeface="+mj-lt"/>
              </a:rPr>
              <a:t>images.If</a:t>
            </a:r>
            <a:r>
              <a:rPr lang="en-US" sz="1800" dirty="0">
                <a:ea typeface="+mj-lt"/>
                <a:cs typeface="+mj-lt"/>
              </a:rPr>
              <a:t> the scan result is older than configured policy allows (added a date check in validate-scan.py), the deployment is blocked until a fresh scan is run in release/dev.     </a:t>
            </a:r>
            <a:br>
              <a:rPr lang="en-US" sz="1800" dirty="0">
                <a:solidFill>
                  <a:srgbClr val="EBEBEB"/>
                </a:solidFill>
                <a:ea typeface="+mj-lt"/>
                <a:cs typeface="+mj-lt"/>
              </a:rPr>
            </a:br>
            <a:br>
              <a:rPr lang="en-US" sz="1800" b="1" dirty="0">
                <a:ea typeface="+mj-lt"/>
                <a:cs typeface="+mj-lt"/>
              </a:rPr>
            </a:br>
            <a:br>
              <a:rPr lang="en-US" sz="1800" b="1" dirty="0">
                <a:ea typeface="+mj-lt"/>
                <a:cs typeface="+mj-lt"/>
              </a:rPr>
            </a:br>
            <a:r>
              <a:rPr lang="en-US" sz="1800" b="1" dirty="0">
                <a:solidFill>
                  <a:schemeClr val="tx1"/>
                </a:solidFill>
                <a:ea typeface="+mj-lt"/>
                <a:cs typeface="+mj-lt"/>
              </a:rPr>
              <a:t>               </a:t>
            </a:r>
            <a:endParaRPr lang="en-US" sz="1800">
              <a:solidFill>
                <a:schemeClr val="tx1"/>
              </a:solidFill>
              <a:ea typeface="+mn-ea"/>
              <a:cs typeface="+mn-cs"/>
            </a:endParaRPr>
          </a:p>
          <a:p>
            <a:endParaRPr lang="en-US" sz="1800" b="1" dirty="0">
              <a:ea typeface="+mj-lt"/>
              <a:cs typeface="+mj-lt"/>
            </a:endParaRPr>
          </a:p>
          <a:p>
            <a:pPr marL="342900" indent="-342900">
              <a:spcBef>
                <a:spcPts val="1000"/>
              </a:spcBef>
              <a:buAutoNum type="arabicPeriod"/>
            </a:pPr>
            <a:endParaRPr lang="en-US" sz="1800" dirty="0">
              <a:solidFill>
                <a:schemeClr val="tx1"/>
              </a:solidFill>
              <a:latin typeface="+mn-lt"/>
              <a:ea typeface="+mn-ea"/>
              <a:cs typeface="+mn-cs"/>
            </a:endParaRPr>
          </a:p>
        </p:txBody>
      </p:sp>
      <p:sp>
        <p:nvSpPr>
          <p:cNvPr id="4" name="Title 1">
            <a:extLst>
              <a:ext uri="{FF2B5EF4-FFF2-40B4-BE49-F238E27FC236}">
                <a16:creationId xmlns:a16="http://schemas.microsoft.com/office/drawing/2014/main" id="{8114E3BF-B351-5BFB-B1F2-0BC2B5356206}"/>
              </a:ext>
            </a:extLst>
          </p:cNvPr>
          <p:cNvSpPr txBox="1">
            <a:spLocks/>
          </p:cNvSpPr>
          <p:nvPr/>
        </p:nvSpPr>
        <p:spPr>
          <a:xfrm>
            <a:off x="486711" y="3153599"/>
            <a:ext cx="8449281" cy="2754116"/>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br>
              <a:rPr lang="en-US" sz="1800" dirty="0">
                <a:solidFill>
                  <a:srgbClr val="EBEBEB"/>
                </a:solidFill>
                <a:ea typeface="+mj-lt"/>
                <a:cs typeface="+mj-lt"/>
              </a:rPr>
            </a:br>
            <a:br>
              <a:rPr lang="en-US" sz="1800" b="1" dirty="0">
                <a:ea typeface="+mj-lt"/>
                <a:cs typeface="+mj-lt"/>
              </a:rPr>
            </a:br>
            <a:br>
              <a:rPr lang="en-US" sz="1800" b="1" dirty="0">
                <a:ea typeface="+mj-lt"/>
                <a:cs typeface="+mj-lt"/>
              </a:rPr>
            </a:br>
            <a:r>
              <a:rPr lang="en-US" sz="1800" b="1" dirty="0">
                <a:solidFill>
                  <a:schemeClr val="tx1"/>
                </a:solidFill>
                <a:ea typeface="+mj-lt"/>
                <a:cs typeface="+mj-lt"/>
              </a:rPr>
              <a:t>               </a:t>
            </a:r>
            <a:endParaRPr lang="en-US" sz="1800">
              <a:solidFill>
                <a:schemeClr val="tx1"/>
              </a:solidFill>
              <a:ea typeface="+mn-ea"/>
              <a:cs typeface="+mn-cs"/>
            </a:endParaRPr>
          </a:p>
          <a:p>
            <a:endParaRPr lang="en-US" sz="1800" b="1" dirty="0">
              <a:ea typeface="+mj-lt"/>
              <a:cs typeface="+mj-lt"/>
            </a:endParaRPr>
          </a:p>
          <a:p>
            <a:pPr marL="342900" indent="-342900">
              <a:spcBef>
                <a:spcPts val="1000"/>
              </a:spcBef>
              <a:buFont typeface="Arial"/>
              <a:buChar char="•"/>
            </a:pPr>
            <a:endParaRPr lang="en-US" sz="1800" dirty="0">
              <a:solidFill>
                <a:schemeClr val="tx1"/>
              </a:solidFill>
              <a:latin typeface="+mn-lt"/>
              <a:ea typeface="+mn-ea"/>
              <a:cs typeface="+mn-cs"/>
            </a:endParaRPr>
          </a:p>
        </p:txBody>
      </p:sp>
      <p:sp>
        <p:nvSpPr>
          <p:cNvPr id="6" name="Title 1">
            <a:extLst>
              <a:ext uri="{FF2B5EF4-FFF2-40B4-BE49-F238E27FC236}">
                <a16:creationId xmlns:a16="http://schemas.microsoft.com/office/drawing/2014/main" id="{D866C422-8B58-4CB4-134F-2D1C5A316FBD}"/>
              </a:ext>
            </a:extLst>
          </p:cNvPr>
          <p:cNvSpPr txBox="1">
            <a:spLocks/>
          </p:cNvSpPr>
          <p:nvPr/>
        </p:nvSpPr>
        <p:spPr>
          <a:xfrm>
            <a:off x="352897" y="2986331"/>
            <a:ext cx="8449281" cy="2754116"/>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ea typeface="+mn-ea"/>
                <a:cs typeface="+mn-cs"/>
              </a:rPr>
              <a:t>Handling Change Management During Incidents</a:t>
            </a:r>
            <a:endParaRPr lang="en-US" sz="2400" dirty="0">
              <a:ea typeface="+mn-ea"/>
              <a:cs typeface="+mn-cs"/>
            </a:endParaRPr>
          </a:p>
          <a:p>
            <a:pPr marL="285750" indent="-285750">
              <a:buFont typeface="Arial"/>
              <a:buChar char="•"/>
            </a:pPr>
            <a:r>
              <a:rPr lang="en-US" sz="1800" b="1" dirty="0">
                <a:solidFill>
                  <a:srgbClr val="EBEBEB"/>
                </a:solidFill>
                <a:ea typeface="+mj-lt"/>
                <a:cs typeface="+mj-lt"/>
              </a:rPr>
              <a:t>Planned Changes:</a:t>
            </a:r>
            <a:r>
              <a:rPr lang="en-US" sz="1800" dirty="0">
                <a:solidFill>
                  <a:srgbClr val="EBEBEB"/>
                </a:solidFill>
                <a:ea typeface="+mj-lt"/>
                <a:cs typeface="+mj-lt"/>
              </a:rPr>
              <a:t> Go through standard PR → review → scan → promote flow.</a:t>
            </a:r>
            <a:endParaRPr lang="en-US" sz="1800">
              <a:ea typeface="+mn-ea"/>
              <a:cs typeface="+mn-cs"/>
            </a:endParaRPr>
          </a:p>
          <a:p>
            <a:pPr marL="285750" indent="-285750">
              <a:buFont typeface="Arial"/>
              <a:buChar char="•"/>
            </a:pPr>
            <a:r>
              <a:rPr lang="en-US" sz="1800" b="1" dirty="0">
                <a:solidFill>
                  <a:srgbClr val="EBEBEB"/>
                </a:solidFill>
                <a:ea typeface="+mj-lt"/>
                <a:cs typeface="+mj-lt"/>
              </a:rPr>
              <a:t>Incident/Emergency Changes:</a:t>
            </a:r>
            <a:endParaRPr lang="en-US" sz="1800">
              <a:ea typeface="+mn-ea"/>
              <a:cs typeface="+mn-cs"/>
            </a:endParaRPr>
          </a:p>
          <a:p>
            <a:pPr marL="742950" lvl="1" indent="-285750">
              <a:buFont typeface="Arial"/>
              <a:buChar char="•"/>
            </a:pPr>
            <a:r>
              <a:rPr lang="en-US" b="1" dirty="0">
                <a:solidFill>
                  <a:srgbClr val="EBEBEB"/>
                </a:solidFill>
                <a:latin typeface="+mj-lt"/>
                <a:ea typeface="+mj-lt"/>
                <a:cs typeface="+mj-lt"/>
              </a:rPr>
              <a:t>Incident ticket created</a:t>
            </a:r>
            <a:r>
              <a:rPr lang="en-US" dirty="0">
                <a:solidFill>
                  <a:srgbClr val="EBEBEB"/>
                </a:solidFill>
                <a:latin typeface="+mj-lt"/>
                <a:ea typeface="+mj-lt"/>
                <a:cs typeface="+mj-lt"/>
              </a:rPr>
              <a:t> in the tracking tool (JIRA/ServiceNow).</a:t>
            </a:r>
            <a:endParaRPr lang="en-US"/>
          </a:p>
          <a:p>
            <a:pPr marL="742950" lvl="1" indent="-285750">
              <a:buFont typeface="Arial"/>
              <a:buChar char="•"/>
            </a:pPr>
            <a:r>
              <a:rPr lang="en-US" b="1" dirty="0">
                <a:solidFill>
                  <a:srgbClr val="EBEBEB"/>
                </a:solidFill>
                <a:latin typeface="+mj-lt"/>
                <a:ea typeface="+mj-lt"/>
                <a:cs typeface="+mj-lt"/>
              </a:rPr>
              <a:t>Hotfix branch</a:t>
            </a:r>
            <a:r>
              <a:rPr lang="en-US" dirty="0">
                <a:solidFill>
                  <a:srgbClr val="EBEBEB"/>
                </a:solidFill>
                <a:latin typeface="+mj-lt"/>
                <a:ea typeface="+mj-lt"/>
                <a:cs typeface="+mj-lt"/>
              </a:rPr>
              <a:t> created from the branch closest to Prod (</a:t>
            </a:r>
            <a:r>
              <a:rPr lang="en-US" dirty="0">
                <a:solidFill>
                  <a:srgbClr val="EBEBEB"/>
                </a:solidFill>
                <a:latin typeface="Consolas"/>
              </a:rPr>
              <a:t>release/</a:t>
            </a:r>
            <a:r>
              <a:rPr lang="en-US" err="1">
                <a:solidFill>
                  <a:srgbClr val="EBEBEB"/>
                </a:solidFill>
                <a:latin typeface="Consolas"/>
              </a:rPr>
              <a:t>uat</a:t>
            </a:r>
            <a:r>
              <a:rPr lang="en-US" dirty="0">
                <a:solidFill>
                  <a:srgbClr val="EBEBEB"/>
                </a:solidFill>
                <a:latin typeface="+mj-lt"/>
                <a:ea typeface="+mj-lt"/>
                <a:cs typeface="+mj-lt"/>
              </a:rPr>
              <a:t> or </a:t>
            </a:r>
            <a:r>
              <a:rPr lang="en-US" dirty="0">
                <a:solidFill>
                  <a:srgbClr val="EBEBEB"/>
                </a:solidFill>
                <a:latin typeface="Consolas"/>
              </a:rPr>
              <a:t>main</a:t>
            </a:r>
            <a:r>
              <a:rPr lang="en-US" dirty="0">
                <a:solidFill>
                  <a:srgbClr val="EBEBEB"/>
                </a:solidFill>
                <a:latin typeface="+mj-lt"/>
                <a:ea typeface="+mj-lt"/>
                <a:cs typeface="+mj-lt"/>
              </a:rPr>
              <a:t>).</a:t>
            </a:r>
            <a:endParaRPr lang="en-US"/>
          </a:p>
          <a:p>
            <a:pPr marL="742950" lvl="1" indent="-285750">
              <a:buFont typeface="Arial"/>
              <a:buChar char="•"/>
            </a:pPr>
            <a:r>
              <a:rPr lang="en-US" b="1" dirty="0">
                <a:solidFill>
                  <a:srgbClr val="EBEBEB"/>
                </a:solidFill>
                <a:latin typeface="+mj-lt"/>
                <a:ea typeface="+mj-lt"/>
                <a:cs typeface="+mj-lt"/>
              </a:rPr>
              <a:t>CI pipeline runs</a:t>
            </a:r>
            <a:r>
              <a:rPr lang="en-US" dirty="0">
                <a:solidFill>
                  <a:srgbClr val="EBEBEB"/>
                </a:solidFill>
                <a:latin typeface="+mj-lt"/>
                <a:ea typeface="+mj-lt"/>
                <a:cs typeface="+mj-lt"/>
              </a:rPr>
              <a:t> on hotfix for security validation — even in emergencies.</a:t>
            </a:r>
            <a:endParaRPr lang="en-US"/>
          </a:p>
          <a:p>
            <a:pPr marL="742950" lvl="1" indent="-285750">
              <a:buFont typeface="Arial"/>
              <a:buChar char="•"/>
            </a:pPr>
            <a:r>
              <a:rPr lang="en-US" b="1" dirty="0">
                <a:solidFill>
                  <a:srgbClr val="EBEBEB"/>
                </a:solidFill>
                <a:latin typeface="+mj-lt"/>
                <a:ea typeface="+mj-lt"/>
                <a:cs typeface="+mj-lt"/>
              </a:rPr>
              <a:t>Fast-track approval</a:t>
            </a:r>
            <a:r>
              <a:rPr lang="en-US" dirty="0">
                <a:solidFill>
                  <a:srgbClr val="EBEBEB"/>
                </a:solidFill>
                <a:latin typeface="+mj-lt"/>
                <a:ea typeface="+mj-lt"/>
                <a:cs typeface="+mj-lt"/>
              </a:rPr>
              <a:t> from backup approvers.</a:t>
            </a:r>
            <a:endParaRPr lang="en-US"/>
          </a:p>
          <a:p>
            <a:pPr marL="742950" lvl="1" indent="-285750">
              <a:buFont typeface="Arial"/>
              <a:buChar char="•"/>
            </a:pPr>
            <a:r>
              <a:rPr lang="en-US" b="1" dirty="0">
                <a:solidFill>
                  <a:srgbClr val="EBEBEB"/>
                </a:solidFill>
                <a:latin typeface="+mj-lt"/>
                <a:ea typeface="+mj-lt"/>
                <a:cs typeface="+mj-lt"/>
              </a:rPr>
              <a:t>Immediate deployment</a:t>
            </a:r>
            <a:r>
              <a:rPr lang="en-US" dirty="0">
                <a:solidFill>
                  <a:srgbClr val="EBEBEB"/>
                </a:solidFill>
                <a:latin typeface="+mj-lt"/>
                <a:ea typeface="+mj-lt"/>
                <a:cs typeface="+mj-lt"/>
              </a:rPr>
              <a:t> to Prod if validated.</a:t>
            </a:r>
            <a:endParaRPr lang="en-US"/>
          </a:p>
          <a:p>
            <a:pPr marL="742950" lvl="1" indent="-285750">
              <a:buFont typeface="Arial"/>
              <a:buChar char="•"/>
            </a:pPr>
            <a:r>
              <a:rPr lang="en-US" b="1" dirty="0">
                <a:solidFill>
                  <a:srgbClr val="EBEBEB"/>
                </a:solidFill>
                <a:latin typeface="+mj-lt"/>
                <a:ea typeface="+mj-lt"/>
                <a:cs typeface="+mj-lt"/>
              </a:rPr>
              <a:t>Post-deployment RCA &amp; governance review</a:t>
            </a:r>
            <a:r>
              <a:rPr lang="en-US" dirty="0">
                <a:solidFill>
                  <a:srgbClr val="EBEBEB"/>
                </a:solidFill>
                <a:latin typeface="+mj-lt"/>
                <a:ea typeface="+mj-lt"/>
                <a:cs typeface="+mj-lt"/>
              </a:rPr>
              <a:t> to capture lessons and adjust processes if needed</a:t>
            </a:r>
            <a:endParaRPr lang="en-US"/>
          </a:p>
          <a:p>
            <a:endParaRPr lang="en-US" sz="1600" b="1" dirty="0">
              <a:solidFill>
                <a:srgbClr val="EBEBEB"/>
              </a:solidFill>
              <a:latin typeface="+mn-lt"/>
              <a:ea typeface="+mn-ea"/>
              <a:cs typeface="+mn-cs"/>
            </a:endParaRPr>
          </a:p>
        </p:txBody>
      </p:sp>
    </p:spTree>
    <p:extLst>
      <p:ext uri="{BB962C8B-B14F-4D97-AF65-F5344CB8AC3E}">
        <p14:creationId xmlns:p14="http://schemas.microsoft.com/office/powerpoint/2010/main" val="62465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744" y="173938"/>
            <a:ext cx="7757906" cy="6240158"/>
          </a:xfrm>
        </p:spPr>
        <p:txBody>
          <a:bodyPr>
            <a:normAutofit fontScale="90000"/>
          </a:bodyPr>
          <a:lstStyle/>
          <a:p>
            <a:pPr>
              <a:spcBef>
                <a:spcPts val="1000"/>
              </a:spcBef>
            </a:pPr>
            <a:r>
              <a:rPr lang="en-US" sz="2400" b="1" dirty="0">
                <a:solidFill>
                  <a:schemeClr val="tx1"/>
                </a:solidFill>
                <a:ea typeface="+mn-ea"/>
                <a:cs typeface="+mn-cs"/>
              </a:rPr>
              <a:t>Shared Library Simulation</a:t>
            </a:r>
            <a:br>
              <a:rPr lang="en-US" sz="2400" b="1" dirty="0">
                <a:latin typeface="+mn-lt"/>
                <a:ea typeface="+mn-ea"/>
                <a:cs typeface="+mn-cs"/>
              </a:rPr>
            </a:br>
            <a:r>
              <a:rPr lang="en-US" sz="2000" dirty="0">
                <a:solidFill>
                  <a:schemeClr val="tx1"/>
                </a:solidFill>
                <a:ea typeface="+mn-ea"/>
                <a:cs typeface="+mn-cs"/>
              </a:rPr>
              <a:t>• ci-config branch acts like internal shared library.</a:t>
            </a:r>
            <a:endParaRPr lang="en-US" dirty="0">
              <a:solidFill>
                <a:schemeClr val="tx1"/>
              </a:solidFill>
              <a:ea typeface="+mn-ea"/>
              <a:cs typeface="+mn-cs"/>
            </a:endParaRPr>
          </a:p>
          <a:p>
            <a:pPr>
              <a:spcBef>
                <a:spcPts val="1000"/>
              </a:spcBef>
            </a:pPr>
            <a:r>
              <a:rPr lang="en-US" sz="2000" dirty="0">
                <a:solidFill>
                  <a:schemeClr val="tx1"/>
                </a:solidFill>
                <a:ea typeface="+mn-ea"/>
                <a:cs typeface="+mn-cs"/>
              </a:rPr>
              <a:t>• Stores reusable workflows, validate-scan logic.</a:t>
            </a:r>
            <a:endParaRPr lang="en-US">
              <a:ea typeface="+mn-ea"/>
              <a:cs typeface="+mn-cs"/>
            </a:endParaRPr>
          </a:p>
          <a:p>
            <a:pPr>
              <a:spcBef>
                <a:spcPts val="1000"/>
              </a:spcBef>
            </a:pPr>
            <a:r>
              <a:rPr lang="en-US" sz="2000" dirty="0">
                <a:solidFill>
                  <a:schemeClr val="tx1"/>
                </a:solidFill>
                <a:ea typeface="+mn-ea"/>
                <a:cs typeface="+mn-cs"/>
              </a:rPr>
              <a:t>• Maintains consistency across environments.</a:t>
            </a:r>
            <a:br>
              <a:rPr lang="en-US" sz="2000" dirty="0">
                <a:latin typeface="+mn-lt"/>
                <a:ea typeface="+mn-ea"/>
                <a:cs typeface="+mn-cs"/>
              </a:rPr>
            </a:br>
            <a:br>
              <a:rPr lang="en-US" sz="2000" dirty="0">
                <a:latin typeface="+mn-lt"/>
                <a:ea typeface="+mn-ea"/>
                <a:cs typeface="+mn-cs"/>
              </a:rPr>
            </a:br>
            <a:r>
              <a:rPr lang="en-US" sz="2400" b="1" dirty="0">
                <a:solidFill>
                  <a:schemeClr val="tx1"/>
                </a:solidFill>
                <a:ea typeface="+mn-ea"/>
                <a:cs typeface="+mn-cs"/>
              </a:rPr>
              <a:t>Helm &amp; Image Management</a:t>
            </a:r>
            <a:br>
              <a:rPr lang="en-US" sz="2400" b="1" dirty="0">
                <a:latin typeface="+mn-lt"/>
                <a:ea typeface="+mn-ea"/>
                <a:cs typeface="+mn-cs"/>
              </a:rPr>
            </a:br>
            <a:r>
              <a:rPr lang="en-US" sz="2400" b="1" dirty="0">
                <a:solidFill>
                  <a:schemeClr val="tx1"/>
                </a:solidFill>
                <a:ea typeface="+mn-ea"/>
                <a:cs typeface="+mn-cs"/>
              </a:rPr>
              <a:t>•</a:t>
            </a:r>
            <a:r>
              <a:rPr lang="en-US" sz="2000" dirty="0">
                <a:solidFill>
                  <a:schemeClr val="tx1"/>
                </a:solidFill>
                <a:ea typeface="+mn-ea"/>
                <a:cs typeface="+mn-cs"/>
              </a:rPr>
              <a:t> Helm chart in charts/</a:t>
            </a:r>
            <a:r>
              <a:rPr lang="en-US" sz="2000" dirty="0" err="1">
                <a:solidFill>
                  <a:schemeClr val="tx1"/>
                </a:solidFill>
                <a:ea typeface="+mn-ea"/>
                <a:cs typeface="+mn-cs"/>
              </a:rPr>
              <a:t>helloworld</a:t>
            </a:r>
            <a:r>
              <a:rPr lang="en-US" sz="2000" dirty="0">
                <a:solidFill>
                  <a:schemeClr val="tx1"/>
                </a:solidFill>
                <a:ea typeface="+mn-ea"/>
                <a:cs typeface="+mn-cs"/>
              </a:rPr>
              <a:t>/ .</a:t>
            </a:r>
            <a:endParaRPr lang="en-US">
              <a:solidFill>
                <a:schemeClr val="tx1"/>
              </a:solidFill>
              <a:ea typeface="+mn-ea"/>
              <a:cs typeface="+mn-cs"/>
            </a:endParaRPr>
          </a:p>
          <a:p>
            <a:pPr>
              <a:spcBef>
                <a:spcPts val="1000"/>
              </a:spcBef>
            </a:pPr>
            <a:r>
              <a:rPr lang="en-US" sz="2000" dirty="0">
                <a:solidFill>
                  <a:schemeClr val="tx1"/>
                </a:solidFill>
                <a:ea typeface="+mn-ea"/>
                <a:cs typeface="+mn-cs"/>
              </a:rPr>
              <a:t>• </a:t>
            </a:r>
            <a:r>
              <a:rPr lang="en-US" sz="2000" err="1">
                <a:solidFill>
                  <a:schemeClr val="tx1"/>
                </a:solidFill>
                <a:ea typeface="+mn-ea"/>
                <a:cs typeface="+mn-cs"/>
              </a:rPr>
              <a:t>values.yaml</a:t>
            </a:r>
            <a:r>
              <a:rPr lang="en-US" sz="2000" dirty="0">
                <a:solidFill>
                  <a:schemeClr val="tx1"/>
                </a:solidFill>
                <a:ea typeface="+mn-ea"/>
                <a:cs typeface="+mn-cs"/>
              </a:rPr>
              <a:t> holds image and tag (SHA).</a:t>
            </a:r>
            <a:endParaRPr lang="en-US">
              <a:solidFill>
                <a:schemeClr val="tx1"/>
              </a:solidFill>
              <a:ea typeface="+mn-ea"/>
              <a:cs typeface="+mn-cs"/>
            </a:endParaRPr>
          </a:p>
          <a:p>
            <a:pPr>
              <a:spcBef>
                <a:spcPts val="1000"/>
              </a:spcBef>
            </a:pPr>
            <a:r>
              <a:rPr lang="en-US" sz="2000" dirty="0">
                <a:solidFill>
                  <a:schemeClr val="tx1"/>
                </a:solidFill>
                <a:ea typeface="+mn-ea"/>
                <a:cs typeface="+mn-cs"/>
              </a:rPr>
              <a:t>• Ensures consistent version deployment.</a:t>
            </a:r>
            <a:br>
              <a:rPr lang="en-US" sz="2000" dirty="0">
                <a:solidFill>
                  <a:schemeClr val="tx1"/>
                </a:solidFill>
                <a:ea typeface="+mn-ea"/>
                <a:cs typeface="+mn-cs"/>
              </a:rPr>
            </a:br>
            <a:br>
              <a:rPr lang="en-US" sz="2000" dirty="0">
                <a:ea typeface="+mn-ea"/>
                <a:cs typeface="+mn-cs"/>
              </a:rPr>
            </a:br>
            <a:r>
              <a:rPr lang="en-US" sz="2400" b="1" dirty="0">
                <a:solidFill>
                  <a:schemeClr val="tx1"/>
                </a:solidFill>
                <a:ea typeface="+mn-ea"/>
                <a:cs typeface="+mn-cs"/>
              </a:rPr>
              <a:t>Summary</a:t>
            </a:r>
            <a:br>
              <a:rPr lang="en-US" sz="2400" b="1" dirty="0">
                <a:solidFill>
                  <a:schemeClr val="tx1"/>
                </a:solidFill>
                <a:ea typeface="+mn-ea"/>
                <a:cs typeface="+mn-cs"/>
              </a:rPr>
            </a:br>
            <a:r>
              <a:rPr lang="en-US" sz="2400" b="1" dirty="0">
                <a:solidFill>
                  <a:schemeClr val="tx1"/>
                </a:solidFill>
                <a:ea typeface="+mn-ea"/>
                <a:cs typeface="+mn-cs"/>
              </a:rPr>
              <a:t>.</a:t>
            </a:r>
            <a:r>
              <a:rPr lang="en-US" sz="2000" dirty="0">
                <a:solidFill>
                  <a:schemeClr val="tx1"/>
                </a:solidFill>
                <a:ea typeface="+mn-ea"/>
                <a:cs typeface="+mn-cs"/>
              </a:rPr>
              <a:t>    CI/CD with security gates and governance.</a:t>
            </a:r>
          </a:p>
          <a:p>
            <a:pPr marL="342900" indent="-342900">
              <a:spcBef>
                <a:spcPts val="1000"/>
              </a:spcBef>
              <a:buFont typeface="Arial,Sans-Serif"/>
              <a:buChar char="•"/>
            </a:pPr>
            <a:r>
              <a:rPr lang="en-US" sz="2000" dirty="0" err="1">
                <a:solidFill>
                  <a:schemeClr val="tx1"/>
                </a:solidFill>
                <a:ea typeface="+mn-ea"/>
                <a:cs typeface="+mn-cs"/>
              </a:rPr>
              <a:t>DockerHub</a:t>
            </a:r>
            <a:r>
              <a:rPr lang="en-US" sz="2000" dirty="0">
                <a:solidFill>
                  <a:schemeClr val="tx1"/>
                </a:solidFill>
                <a:ea typeface="+mn-ea"/>
                <a:cs typeface="+mn-cs"/>
              </a:rPr>
              <a:t> + GitHub = Full traceability.</a:t>
            </a:r>
          </a:p>
          <a:p>
            <a:pPr marL="342900" indent="-342900">
              <a:spcBef>
                <a:spcPts val="1000"/>
              </a:spcBef>
              <a:buFont typeface="Arial,Sans-Serif"/>
              <a:buChar char="•"/>
            </a:pPr>
            <a:r>
              <a:rPr lang="en-US" sz="2000" dirty="0">
                <a:solidFill>
                  <a:schemeClr val="tx1"/>
                </a:solidFill>
                <a:ea typeface="+mn-ea"/>
                <a:cs typeface="+mn-cs"/>
              </a:rPr>
              <a:t>Well-defined PR-based promotion strategy.</a:t>
            </a:r>
          </a:p>
          <a:p>
            <a:pPr marL="342900" indent="-342900">
              <a:spcBef>
                <a:spcPts val="1000"/>
              </a:spcBef>
              <a:buFont typeface="Arial,Sans-Serif"/>
              <a:buChar char="•"/>
            </a:pPr>
            <a:r>
              <a:rPr lang="en-US" sz="2000" dirty="0">
                <a:solidFill>
                  <a:schemeClr val="tx1"/>
                </a:solidFill>
                <a:ea typeface="+mn-ea"/>
                <a:cs typeface="+mn-cs"/>
              </a:rPr>
              <a:t>Ready for production with centralized validation.</a:t>
            </a:r>
          </a:p>
          <a:p>
            <a:pPr marL="342900" indent="-342900">
              <a:spcBef>
                <a:spcPts val="1000"/>
              </a:spcBef>
              <a:buFont typeface="Arial,Sans-Serif"/>
              <a:buChar char="•"/>
            </a:pPr>
            <a:r>
              <a:rPr lang="en-US" sz="2000" dirty="0">
                <a:solidFill>
                  <a:schemeClr val="tx1"/>
                </a:solidFill>
                <a:ea typeface="+mn-ea"/>
                <a:cs typeface="+mn-cs"/>
              </a:rPr>
              <a:t>Architecture is secure , auditable and </a:t>
            </a:r>
            <a:r>
              <a:rPr lang="en-US" sz="2000" dirty="0" err="1">
                <a:solidFill>
                  <a:schemeClr val="tx1"/>
                </a:solidFill>
                <a:ea typeface="+mn-ea"/>
                <a:cs typeface="+mn-cs"/>
              </a:rPr>
              <a:t>standardized.Active</a:t>
            </a:r>
            <a:r>
              <a:rPr lang="en-US" sz="2000" dirty="0">
                <a:solidFill>
                  <a:schemeClr val="tx1"/>
                </a:solidFill>
                <a:ea typeface="+mn-ea"/>
                <a:cs typeface="+mn-cs"/>
              </a:rPr>
              <a:t> and Passive monitoring can be implemented to make sure system is </a:t>
            </a:r>
            <a:r>
              <a:rPr lang="en-US" sz="2000" dirty="0" err="1">
                <a:solidFill>
                  <a:schemeClr val="tx1"/>
                </a:solidFill>
                <a:ea typeface="+mn-ea"/>
                <a:cs typeface="+mn-cs"/>
              </a:rPr>
              <a:t>runing</a:t>
            </a:r>
            <a:r>
              <a:rPr lang="en-US" sz="2000" dirty="0">
                <a:solidFill>
                  <a:schemeClr val="tx1"/>
                </a:solidFill>
                <a:ea typeface="+mn-ea"/>
                <a:cs typeface="+mn-cs"/>
              </a:rPr>
              <a:t> as expected after and during deployment by </a:t>
            </a:r>
            <a:r>
              <a:rPr lang="en-US" sz="2000" dirty="0" err="1">
                <a:solidFill>
                  <a:schemeClr val="tx1"/>
                </a:solidFill>
                <a:ea typeface="+mn-ea"/>
                <a:cs typeface="+mn-cs"/>
              </a:rPr>
              <a:t>dynatrace</a:t>
            </a:r>
            <a:r>
              <a:rPr lang="en-US" sz="2000" dirty="0">
                <a:solidFill>
                  <a:schemeClr val="tx1"/>
                </a:solidFill>
                <a:ea typeface="+mn-ea"/>
                <a:cs typeface="+mn-cs"/>
              </a:rPr>
              <a:t> integration. </a:t>
            </a:r>
            <a:br>
              <a:rPr lang="en-US" sz="2000" dirty="0">
                <a:solidFill>
                  <a:schemeClr val="tx1"/>
                </a:solidFill>
                <a:ea typeface="+mn-ea"/>
                <a:cs typeface="+mn-cs"/>
              </a:rPr>
            </a:br>
            <a:br>
              <a:rPr lang="en-US" sz="2000" dirty="0">
                <a:ea typeface="+mn-ea"/>
                <a:cs typeface="+mn-cs"/>
              </a:rPr>
            </a:br>
            <a:endParaRPr lang="en-US" sz="2000" dirty="0">
              <a:solidFill>
                <a:schemeClr val="tx1"/>
              </a:solidFill>
              <a:ea typeface="+mn-ea"/>
              <a:cs typeface="+mn-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373</TotalTime>
  <Words>446</Words>
  <Application>Microsoft Office PowerPoint</Application>
  <PresentationFormat>On-screen Show (4:3)</PresentationFormat>
  <Paragraphs>64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Ion</vt:lpstr>
      <vt:lpstr>CI/CD Pipeline with Governance</vt:lpstr>
      <vt:lpstr>PowerPoint Presentation</vt:lpstr>
      <vt:lpstr>Tool Selection Justification  GitHub (Repo, Actions, Branching Strategy) : Centralized source control and automation in one platform, no need to maintain a separate CI/CD tool. Allowed me to implement both CI and CD pipelines with governance using only repo-based workflows  Trivy (Image Scanning): Open-source, quick to integrate, covers OS packages and application dependencies for CVEs. Aligned with governance requirement — block promotion if CVEs found above a threshold      Helm: Standard Kubernetes package manager, lets us templatize     deployments. Even without GKE/EKS, Helm allows a deployment structure that is cloud/K8s-ready.  Governance via Repo (Policies &amp; Dispensation Files): Instead of a heavy policy engine, used GitHub repo itself for governance rules. Simple to audit, versioned, and enforced via pipelines.     Docker Desktop: Lightweight, local container runtime to simulate Kubernetes or production environments without cloud dependencies.  .    Immutable &amp; Traceable: SHA256 digest is unique per image build — no accidental re-tagging (unlike latest).Prevents ambiguity; we always know exactly which image is deployed.                       </vt:lpstr>
      <vt:lpstr>CI Pipeline - release/dev</vt:lpstr>
      <vt:lpstr>CD Pipeline - release/uat &amp; main</vt:lpstr>
      <vt:lpstr>Promotion Flow</vt:lpstr>
      <vt:lpstr>Governance Strategy</vt:lpstr>
      <vt:lpstr>Identify the issue in production and decide the last known stable deployment commit in main.  Checkout that commit in main to get the exact application version.  Read the governance version file (governance-version-&lt;imageSHA&gt;.txt) from that commit to find the matching ci-config commit.  Checkout the ci-config repo at that specific commit to restore the exact security policies used earlier.  Deploy the same Docker image (helloworld:&lt;imageSHA&gt;) that was previously validated.</vt:lpstr>
      <vt:lpstr>Create a hotfix branch from the current production (main) commit. Apply only the required fix — keep changes minimal to reduce risk. Run CI pipeline for that hotfix by creating a PR from hotfix branch -&gt; release/dev  to rebuild the image and generate scan results. Ensure governance validation passes using the latest approved rules from ci-config. Merge the hotfix branch into main and deploy immediately to production. </vt:lpstr>
      <vt:lpstr>Preventing Tampering with Scan Results  Branch protection rules:   Only release/dev can generate and commit scan results.  Direct pushes to release/dev, release/uat, and main are blocked — PR or cherry-pick only.  Governance enforcement:   ci-config/governance/ contains rules that validate scan results in CD before deployment.  validate-scan.py checks that:       The file exists in the repo.       The SHA in the scan file matches the image being deployed.  Audit trail:    Scan results are stored as committed JSON in GitHub, so every change is version-controlled and traceable. </vt:lpstr>
      <vt:lpstr>Handling Stale or Missing Scan Data CD pipeline explicitly fetches scan results from Github artifact for which we have given limited access only to responsible teams.  If the scan result for that SHA is missing, the validation step fails immediately: This prevents deploying unscanned images.If the scan result is older than configured policy allows (added a date check in validate-scan.py), the deployment is blocked until a fresh scan is run in release/dev.                         </vt:lpstr>
      <vt:lpstr>Shared Library Simulation • ci-config branch acts like internal shared library. • Stores reusable workflows, validate-scan logic. • Maintains consistency across environments.  Helm &amp; Image Management • Helm chart in charts/helloworld/ . • values.yaml holds image and tag (SHA). • Ensures consistent version deployment.  Summary .    CI/CD with security gates and governance. DockerHub + GitHub = Full traceability. Well-defined PR-based promotion strategy. Ready for production with centralized validation. Architecture is secure , auditable and standardized.Active and Passive monitoring can be implemented to make sure system is runing as expected after and during deployment by dynatrace integration.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Rakesh R</cp:lastModifiedBy>
  <cp:revision>686</cp:revision>
  <dcterms:created xsi:type="dcterms:W3CDTF">2013-01-27T09:14:16Z</dcterms:created>
  <dcterms:modified xsi:type="dcterms:W3CDTF">2025-08-12T07:58:21Z</dcterms:modified>
  <cp:category/>
</cp:coreProperties>
</file>